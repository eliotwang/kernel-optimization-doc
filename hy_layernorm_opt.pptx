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3"/>
  </p:notesMasterIdLst>
  <p:sldIdLst>
    <p:sldId id="381" r:id="rId3"/>
    <p:sldId id="446" r:id="rId4"/>
    <p:sldId id="448" r:id="rId5"/>
    <p:sldId id="450" r:id="rId6"/>
    <p:sldId id="449" r:id="rId7"/>
    <p:sldId id="452" r:id="rId8"/>
    <p:sldId id="451" r:id="rId9"/>
    <p:sldId id="457" r:id="rId10"/>
    <p:sldId id="458" r:id="rId11"/>
    <p:sldId id="445" r:id="rId12"/>
    <p:sldId id="427" r:id="rId13"/>
    <p:sldId id="426" r:id="rId14"/>
    <p:sldId id="429" r:id="rId15"/>
    <p:sldId id="382" r:id="rId16"/>
    <p:sldId id="439" r:id="rId17"/>
    <p:sldId id="440" r:id="rId18"/>
    <p:sldId id="422" r:id="rId19"/>
    <p:sldId id="442" r:id="rId20"/>
    <p:sldId id="441" r:id="rId21"/>
    <p:sldId id="44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CE731-63A9-4ED2-9CFA-1A3D3CDF7042}"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8C7804-14B2-41BA-855A-106202386A9F}" type="slidenum">
              <a:rPr lang="en-US" smtClean="0"/>
              <a:t>‹#›</a:t>
            </a:fld>
            <a:endParaRPr lang="en-US"/>
          </a:p>
        </p:txBody>
      </p:sp>
    </p:spTree>
    <p:extLst>
      <p:ext uri="{BB962C8B-B14F-4D97-AF65-F5344CB8AC3E}">
        <p14:creationId xmlns:p14="http://schemas.microsoft.com/office/powerpoint/2010/main" val="463308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065C0D-FF1F-42F0-84CE-0AFF8761DCB0}" type="slidenum">
              <a:rPr kumimoji="0" lang="en-US" sz="1200" b="0" i="0" u="none" strike="noStrike" kern="1200" cap="none" spc="0" normalizeH="0" baseline="0" noProof="0" smtClean="0">
                <a:ln>
                  <a:noFill/>
                </a:ln>
                <a:solidFill>
                  <a:prstClr val="black"/>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28FEC-583D-15CB-FE4F-B0B8D55EC6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D2D922-CED8-1D42-4DCB-7A7980D75C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3DF131-5BAF-EF26-B3AE-E30F413E9543}"/>
              </a:ext>
            </a:extLst>
          </p:cNvPr>
          <p:cNvSpPr>
            <a:spLocks noGrp="1"/>
          </p:cNvSpPr>
          <p:nvPr>
            <p:ph type="dt" sz="half" idx="10"/>
          </p:nvPr>
        </p:nvSpPr>
        <p:spPr/>
        <p:txBody>
          <a:bodyPr/>
          <a:lstStyle/>
          <a:p>
            <a:fld id="{B0778FDB-51D1-402D-8E12-F2EFE762D4DA}" type="datetimeFigureOut">
              <a:rPr lang="en-US" smtClean="0"/>
              <a:t>11/19/2025</a:t>
            </a:fld>
            <a:endParaRPr lang="en-US"/>
          </a:p>
        </p:txBody>
      </p:sp>
      <p:sp>
        <p:nvSpPr>
          <p:cNvPr id="5" name="Footer Placeholder 4">
            <a:extLst>
              <a:ext uri="{FF2B5EF4-FFF2-40B4-BE49-F238E27FC236}">
                <a16:creationId xmlns:a16="http://schemas.microsoft.com/office/drawing/2014/main" id="{9642ED02-20CE-9C6B-9740-EDEE7543BC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66BA5F-EF5A-5A10-8A01-9C0296512FCB}"/>
              </a:ext>
            </a:extLst>
          </p:cNvPr>
          <p:cNvSpPr>
            <a:spLocks noGrp="1"/>
          </p:cNvSpPr>
          <p:nvPr>
            <p:ph type="sldNum" sz="quarter" idx="12"/>
          </p:nvPr>
        </p:nvSpPr>
        <p:spPr/>
        <p:txBody>
          <a:bodyPr/>
          <a:lstStyle/>
          <a:p>
            <a:fld id="{84C88236-BD0C-4EE4-BD20-5A8E56D95584}" type="slidenum">
              <a:rPr lang="en-US" smtClean="0"/>
              <a:t>‹#›</a:t>
            </a:fld>
            <a:endParaRPr lang="en-US"/>
          </a:p>
        </p:txBody>
      </p:sp>
    </p:spTree>
    <p:extLst>
      <p:ext uri="{BB962C8B-B14F-4D97-AF65-F5344CB8AC3E}">
        <p14:creationId xmlns:p14="http://schemas.microsoft.com/office/powerpoint/2010/main" val="283167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7012E-CD39-95F5-92D3-DF147325AF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2D2459-D893-B033-4351-B4CDF4F5D1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CD68F3-A7DC-C522-27EF-7F47178D17D2}"/>
              </a:ext>
            </a:extLst>
          </p:cNvPr>
          <p:cNvSpPr>
            <a:spLocks noGrp="1"/>
          </p:cNvSpPr>
          <p:nvPr>
            <p:ph type="dt" sz="half" idx="10"/>
          </p:nvPr>
        </p:nvSpPr>
        <p:spPr/>
        <p:txBody>
          <a:bodyPr/>
          <a:lstStyle/>
          <a:p>
            <a:fld id="{B0778FDB-51D1-402D-8E12-F2EFE762D4DA}" type="datetimeFigureOut">
              <a:rPr lang="en-US" smtClean="0"/>
              <a:t>11/19/2025</a:t>
            </a:fld>
            <a:endParaRPr lang="en-US"/>
          </a:p>
        </p:txBody>
      </p:sp>
      <p:sp>
        <p:nvSpPr>
          <p:cNvPr id="5" name="Footer Placeholder 4">
            <a:extLst>
              <a:ext uri="{FF2B5EF4-FFF2-40B4-BE49-F238E27FC236}">
                <a16:creationId xmlns:a16="http://schemas.microsoft.com/office/drawing/2014/main" id="{32BC3E32-2000-F63B-2F86-7953FFB466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316950-C6F2-D7A4-C920-23D0D6ADDCBC}"/>
              </a:ext>
            </a:extLst>
          </p:cNvPr>
          <p:cNvSpPr>
            <a:spLocks noGrp="1"/>
          </p:cNvSpPr>
          <p:nvPr>
            <p:ph type="sldNum" sz="quarter" idx="12"/>
          </p:nvPr>
        </p:nvSpPr>
        <p:spPr/>
        <p:txBody>
          <a:bodyPr/>
          <a:lstStyle/>
          <a:p>
            <a:fld id="{84C88236-BD0C-4EE4-BD20-5A8E56D95584}" type="slidenum">
              <a:rPr lang="en-US" smtClean="0"/>
              <a:t>‹#›</a:t>
            </a:fld>
            <a:endParaRPr lang="en-US"/>
          </a:p>
        </p:txBody>
      </p:sp>
    </p:spTree>
    <p:extLst>
      <p:ext uri="{BB962C8B-B14F-4D97-AF65-F5344CB8AC3E}">
        <p14:creationId xmlns:p14="http://schemas.microsoft.com/office/powerpoint/2010/main" val="1238674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ED142-759F-D734-9D34-9441452002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CFF510-ED2E-6B51-723E-90BDDD93C5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909176-0530-2915-783C-F9F4AC50FAFB}"/>
              </a:ext>
            </a:extLst>
          </p:cNvPr>
          <p:cNvSpPr>
            <a:spLocks noGrp="1"/>
          </p:cNvSpPr>
          <p:nvPr>
            <p:ph type="dt" sz="half" idx="10"/>
          </p:nvPr>
        </p:nvSpPr>
        <p:spPr/>
        <p:txBody>
          <a:bodyPr/>
          <a:lstStyle/>
          <a:p>
            <a:fld id="{B0778FDB-51D1-402D-8E12-F2EFE762D4DA}" type="datetimeFigureOut">
              <a:rPr lang="en-US" smtClean="0"/>
              <a:t>11/19/2025</a:t>
            </a:fld>
            <a:endParaRPr lang="en-US"/>
          </a:p>
        </p:txBody>
      </p:sp>
      <p:sp>
        <p:nvSpPr>
          <p:cNvPr id="5" name="Footer Placeholder 4">
            <a:extLst>
              <a:ext uri="{FF2B5EF4-FFF2-40B4-BE49-F238E27FC236}">
                <a16:creationId xmlns:a16="http://schemas.microsoft.com/office/drawing/2014/main" id="{423D587E-8193-F838-93A1-BB1D3E51A1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4F3A9D-617C-38AD-D07A-8BC887F07830}"/>
              </a:ext>
            </a:extLst>
          </p:cNvPr>
          <p:cNvSpPr>
            <a:spLocks noGrp="1"/>
          </p:cNvSpPr>
          <p:nvPr>
            <p:ph type="sldNum" sz="quarter" idx="12"/>
          </p:nvPr>
        </p:nvSpPr>
        <p:spPr/>
        <p:txBody>
          <a:bodyPr/>
          <a:lstStyle/>
          <a:p>
            <a:fld id="{84C88236-BD0C-4EE4-BD20-5A8E56D95584}" type="slidenum">
              <a:rPr lang="en-US" smtClean="0"/>
              <a:t>‹#›</a:t>
            </a:fld>
            <a:endParaRPr lang="en-US"/>
          </a:p>
        </p:txBody>
      </p:sp>
    </p:spTree>
    <p:extLst>
      <p:ext uri="{BB962C8B-B14F-4D97-AF65-F5344CB8AC3E}">
        <p14:creationId xmlns:p14="http://schemas.microsoft.com/office/powerpoint/2010/main" val="282943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F5573-512A-C940-B25A-49BBE4261A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D0AC1A-1138-F95B-6778-48DE40CA6B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CFB35B-2E70-970B-3729-43AE9E95ED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5011C1-89BB-E6B2-30D5-A703C2F65F3C}"/>
              </a:ext>
            </a:extLst>
          </p:cNvPr>
          <p:cNvSpPr>
            <a:spLocks noGrp="1"/>
          </p:cNvSpPr>
          <p:nvPr>
            <p:ph type="dt" sz="half" idx="10"/>
          </p:nvPr>
        </p:nvSpPr>
        <p:spPr/>
        <p:txBody>
          <a:bodyPr/>
          <a:lstStyle/>
          <a:p>
            <a:fld id="{B0778FDB-51D1-402D-8E12-F2EFE762D4DA}" type="datetimeFigureOut">
              <a:rPr lang="en-US" smtClean="0"/>
              <a:t>11/19/2025</a:t>
            </a:fld>
            <a:endParaRPr lang="en-US"/>
          </a:p>
        </p:txBody>
      </p:sp>
      <p:sp>
        <p:nvSpPr>
          <p:cNvPr id="6" name="Footer Placeholder 5">
            <a:extLst>
              <a:ext uri="{FF2B5EF4-FFF2-40B4-BE49-F238E27FC236}">
                <a16:creationId xmlns:a16="http://schemas.microsoft.com/office/drawing/2014/main" id="{30AE0654-2273-D831-2F32-68D0EAFCAD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014D0C-D740-2B33-7CFF-ACEE78AA75F8}"/>
              </a:ext>
            </a:extLst>
          </p:cNvPr>
          <p:cNvSpPr>
            <a:spLocks noGrp="1"/>
          </p:cNvSpPr>
          <p:nvPr>
            <p:ph type="sldNum" sz="quarter" idx="12"/>
          </p:nvPr>
        </p:nvSpPr>
        <p:spPr/>
        <p:txBody>
          <a:bodyPr/>
          <a:lstStyle/>
          <a:p>
            <a:fld id="{84C88236-BD0C-4EE4-BD20-5A8E56D95584}" type="slidenum">
              <a:rPr lang="en-US" smtClean="0"/>
              <a:t>‹#›</a:t>
            </a:fld>
            <a:endParaRPr lang="en-US"/>
          </a:p>
        </p:txBody>
      </p:sp>
    </p:spTree>
    <p:extLst>
      <p:ext uri="{BB962C8B-B14F-4D97-AF65-F5344CB8AC3E}">
        <p14:creationId xmlns:p14="http://schemas.microsoft.com/office/powerpoint/2010/main" val="2743554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4E2C5-F12C-CF6A-7ED6-1016794A80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A36E51-CBEB-ECF4-4142-855D6FC129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916FA9-7FF6-125F-5413-85F26F16B0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D70765-8934-5ABC-7495-3072D10080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5C16C2-B858-9AFB-9137-17695C25B9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1CDBCA-B448-E755-1BA5-79889A58D255}"/>
              </a:ext>
            </a:extLst>
          </p:cNvPr>
          <p:cNvSpPr>
            <a:spLocks noGrp="1"/>
          </p:cNvSpPr>
          <p:nvPr>
            <p:ph type="dt" sz="half" idx="10"/>
          </p:nvPr>
        </p:nvSpPr>
        <p:spPr/>
        <p:txBody>
          <a:bodyPr/>
          <a:lstStyle/>
          <a:p>
            <a:fld id="{B0778FDB-51D1-402D-8E12-F2EFE762D4DA}" type="datetimeFigureOut">
              <a:rPr lang="en-US" smtClean="0"/>
              <a:t>11/19/2025</a:t>
            </a:fld>
            <a:endParaRPr lang="en-US"/>
          </a:p>
        </p:txBody>
      </p:sp>
      <p:sp>
        <p:nvSpPr>
          <p:cNvPr id="8" name="Footer Placeholder 7">
            <a:extLst>
              <a:ext uri="{FF2B5EF4-FFF2-40B4-BE49-F238E27FC236}">
                <a16:creationId xmlns:a16="http://schemas.microsoft.com/office/drawing/2014/main" id="{CB3BC9D4-2034-01DD-9483-02A209F651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E6C173-3BFD-4780-DDEE-78B65C70603E}"/>
              </a:ext>
            </a:extLst>
          </p:cNvPr>
          <p:cNvSpPr>
            <a:spLocks noGrp="1"/>
          </p:cNvSpPr>
          <p:nvPr>
            <p:ph type="sldNum" sz="quarter" idx="12"/>
          </p:nvPr>
        </p:nvSpPr>
        <p:spPr/>
        <p:txBody>
          <a:bodyPr/>
          <a:lstStyle/>
          <a:p>
            <a:fld id="{84C88236-BD0C-4EE4-BD20-5A8E56D95584}" type="slidenum">
              <a:rPr lang="en-US" smtClean="0"/>
              <a:t>‹#›</a:t>
            </a:fld>
            <a:endParaRPr lang="en-US"/>
          </a:p>
        </p:txBody>
      </p:sp>
    </p:spTree>
    <p:extLst>
      <p:ext uri="{BB962C8B-B14F-4D97-AF65-F5344CB8AC3E}">
        <p14:creationId xmlns:p14="http://schemas.microsoft.com/office/powerpoint/2010/main" val="3612935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DDBCA-8E09-CCD9-C684-F07155787E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52F9645-413E-B520-8548-CA63F1CEDF1A}"/>
              </a:ext>
            </a:extLst>
          </p:cNvPr>
          <p:cNvSpPr>
            <a:spLocks noGrp="1"/>
          </p:cNvSpPr>
          <p:nvPr>
            <p:ph type="dt" sz="half" idx="10"/>
          </p:nvPr>
        </p:nvSpPr>
        <p:spPr/>
        <p:txBody>
          <a:bodyPr/>
          <a:lstStyle/>
          <a:p>
            <a:fld id="{B0778FDB-51D1-402D-8E12-F2EFE762D4DA}" type="datetimeFigureOut">
              <a:rPr lang="en-US" smtClean="0"/>
              <a:t>11/19/2025</a:t>
            </a:fld>
            <a:endParaRPr lang="en-US"/>
          </a:p>
        </p:txBody>
      </p:sp>
      <p:sp>
        <p:nvSpPr>
          <p:cNvPr id="4" name="Footer Placeholder 3">
            <a:extLst>
              <a:ext uri="{FF2B5EF4-FFF2-40B4-BE49-F238E27FC236}">
                <a16:creationId xmlns:a16="http://schemas.microsoft.com/office/drawing/2014/main" id="{67488CFA-6F89-3BE7-CF3F-145BB07554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297D06-2B40-2552-4BB2-453F58A60089}"/>
              </a:ext>
            </a:extLst>
          </p:cNvPr>
          <p:cNvSpPr>
            <a:spLocks noGrp="1"/>
          </p:cNvSpPr>
          <p:nvPr>
            <p:ph type="sldNum" sz="quarter" idx="12"/>
          </p:nvPr>
        </p:nvSpPr>
        <p:spPr/>
        <p:txBody>
          <a:bodyPr/>
          <a:lstStyle/>
          <a:p>
            <a:fld id="{84C88236-BD0C-4EE4-BD20-5A8E56D95584}" type="slidenum">
              <a:rPr lang="en-US" smtClean="0"/>
              <a:t>‹#›</a:t>
            </a:fld>
            <a:endParaRPr lang="en-US"/>
          </a:p>
        </p:txBody>
      </p:sp>
    </p:spTree>
    <p:extLst>
      <p:ext uri="{BB962C8B-B14F-4D97-AF65-F5344CB8AC3E}">
        <p14:creationId xmlns:p14="http://schemas.microsoft.com/office/powerpoint/2010/main" val="3883854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A0A6B-765A-5886-4D66-5B0CAEF9B35E}"/>
              </a:ext>
            </a:extLst>
          </p:cNvPr>
          <p:cNvSpPr>
            <a:spLocks noGrp="1"/>
          </p:cNvSpPr>
          <p:nvPr>
            <p:ph type="dt" sz="half" idx="10"/>
          </p:nvPr>
        </p:nvSpPr>
        <p:spPr/>
        <p:txBody>
          <a:bodyPr/>
          <a:lstStyle/>
          <a:p>
            <a:fld id="{B0778FDB-51D1-402D-8E12-F2EFE762D4DA}" type="datetimeFigureOut">
              <a:rPr lang="en-US" smtClean="0"/>
              <a:t>11/19/2025</a:t>
            </a:fld>
            <a:endParaRPr lang="en-US"/>
          </a:p>
        </p:txBody>
      </p:sp>
      <p:sp>
        <p:nvSpPr>
          <p:cNvPr id="3" name="Footer Placeholder 2">
            <a:extLst>
              <a:ext uri="{FF2B5EF4-FFF2-40B4-BE49-F238E27FC236}">
                <a16:creationId xmlns:a16="http://schemas.microsoft.com/office/drawing/2014/main" id="{CD3CE5BF-C823-1682-D4C6-E298F140D0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D6363D-5FB2-AE08-FFBE-0BE27AEA7C76}"/>
              </a:ext>
            </a:extLst>
          </p:cNvPr>
          <p:cNvSpPr>
            <a:spLocks noGrp="1"/>
          </p:cNvSpPr>
          <p:nvPr>
            <p:ph type="sldNum" sz="quarter" idx="12"/>
          </p:nvPr>
        </p:nvSpPr>
        <p:spPr/>
        <p:txBody>
          <a:bodyPr/>
          <a:lstStyle/>
          <a:p>
            <a:fld id="{84C88236-BD0C-4EE4-BD20-5A8E56D95584}" type="slidenum">
              <a:rPr lang="en-US" smtClean="0"/>
              <a:t>‹#›</a:t>
            </a:fld>
            <a:endParaRPr lang="en-US"/>
          </a:p>
        </p:txBody>
      </p:sp>
    </p:spTree>
    <p:extLst>
      <p:ext uri="{BB962C8B-B14F-4D97-AF65-F5344CB8AC3E}">
        <p14:creationId xmlns:p14="http://schemas.microsoft.com/office/powerpoint/2010/main" val="3779695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25E83-96F7-B790-7AA4-4713359CC5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4A6A01-25E2-6BF7-7F67-63FC134B3B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DA0CA0-746B-7FD8-DA63-D0BFD853A1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5A3CE9-B02D-EFEA-FAEC-273343277870}"/>
              </a:ext>
            </a:extLst>
          </p:cNvPr>
          <p:cNvSpPr>
            <a:spLocks noGrp="1"/>
          </p:cNvSpPr>
          <p:nvPr>
            <p:ph type="dt" sz="half" idx="10"/>
          </p:nvPr>
        </p:nvSpPr>
        <p:spPr/>
        <p:txBody>
          <a:bodyPr/>
          <a:lstStyle/>
          <a:p>
            <a:fld id="{B0778FDB-51D1-402D-8E12-F2EFE762D4DA}" type="datetimeFigureOut">
              <a:rPr lang="en-US" smtClean="0"/>
              <a:t>11/19/2025</a:t>
            </a:fld>
            <a:endParaRPr lang="en-US"/>
          </a:p>
        </p:txBody>
      </p:sp>
      <p:sp>
        <p:nvSpPr>
          <p:cNvPr id="6" name="Footer Placeholder 5">
            <a:extLst>
              <a:ext uri="{FF2B5EF4-FFF2-40B4-BE49-F238E27FC236}">
                <a16:creationId xmlns:a16="http://schemas.microsoft.com/office/drawing/2014/main" id="{BCC66B63-CB07-3288-7632-A9416850C9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79F0BA-65AE-0CB7-8D6C-02CA1FBCB999}"/>
              </a:ext>
            </a:extLst>
          </p:cNvPr>
          <p:cNvSpPr>
            <a:spLocks noGrp="1"/>
          </p:cNvSpPr>
          <p:nvPr>
            <p:ph type="sldNum" sz="quarter" idx="12"/>
          </p:nvPr>
        </p:nvSpPr>
        <p:spPr/>
        <p:txBody>
          <a:bodyPr/>
          <a:lstStyle/>
          <a:p>
            <a:fld id="{84C88236-BD0C-4EE4-BD20-5A8E56D95584}" type="slidenum">
              <a:rPr lang="en-US" smtClean="0"/>
              <a:t>‹#›</a:t>
            </a:fld>
            <a:endParaRPr lang="en-US"/>
          </a:p>
        </p:txBody>
      </p:sp>
    </p:spTree>
    <p:extLst>
      <p:ext uri="{BB962C8B-B14F-4D97-AF65-F5344CB8AC3E}">
        <p14:creationId xmlns:p14="http://schemas.microsoft.com/office/powerpoint/2010/main" val="2070175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BC451-E70E-95FE-544A-DF99340485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6587D4-B9F2-81FF-EC27-AB97CCE585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0ED9C1-2478-0C55-F9FC-A8407F2384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B595AC-E1A2-218D-A7A8-E3E8E31FDD13}"/>
              </a:ext>
            </a:extLst>
          </p:cNvPr>
          <p:cNvSpPr>
            <a:spLocks noGrp="1"/>
          </p:cNvSpPr>
          <p:nvPr>
            <p:ph type="dt" sz="half" idx="10"/>
          </p:nvPr>
        </p:nvSpPr>
        <p:spPr/>
        <p:txBody>
          <a:bodyPr/>
          <a:lstStyle/>
          <a:p>
            <a:fld id="{B0778FDB-51D1-402D-8E12-F2EFE762D4DA}" type="datetimeFigureOut">
              <a:rPr lang="en-US" smtClean="0"/>
              <a:t>11/19/2025</a:t>
            </a:fld>
            <a:endParaRPr lang="en-US"/>
          </a:p>
        </p:txBody>
      </p:sp>
      <p:sp>
        <p:nvSpPr>
          <p:cNvPr id="6" name="Footer Placeholder 5">
            <a:extLst>
              <a:ext uri="{FF2B5EF4-FFF2-40B4-BE49-F238E27FC236}">
                <a16:creationId xmlns:a16="http://schemas.microsoft.com/office/drawing/2014/main" id="{EB71E540-E958-E340-4835-D8FCC53D1A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B98410-26EB-50AD-BF92-CE3111117C41}"/>
              </a:ext>
            </a:extLst>
          </p:cNvPr>
          <p:cNvSpPr>
            <a:spLocks noGrp="1"/>
          </p:cNvSpPr>
          <p:nvPr>
            <p:ph type="sldNum" sz="quarter" idx="12"/>
          </p:nvPr>
        </p:nvSpPr>
        <p:spPr/>
        <p:txBody>
          <a:bodyPr/>
          <a:lstStyle/>
          <a:p>
            <a:fld id="{84C88236-BD0C-4EE4-BD20-5A8E56D95584}" type="slidenum">
              <a:rPr lang="en-US" smtClean="0"/>
              <a:t>‹#›</a:t>
            </a:fld>
            <a:endParaRPr lang="en-US"/>
          </a:p>
        </p:txBody>
      </p:sp>
    </p:spTree>
    <p:extLst>
      <p:ext uri="{BB962C8B-B14F-4D97-AF65-F5344CB8AC3E}">
        <p14:creationId xmlns:p14="http://schemas.microsoft.com/office/powerpoint/2010/main" val="809589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397B9-0804-C070-2B4F-A3124B0C45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77DD3B-108B-BAA3-58F7-70F4DD629B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38C97F-CDFC-90E0-DC88-0AF49BF14556}"/>
              </a:ext>
            </a:extLst>
          </p:cNvPr>
          <p:cNvSpPr>
            <a:spLocks noGrp="1"/>
          </p:cNvSpPr>
          <p:nvPr>
            <p:ph type="dt" sz="half" idx="10"/>
          </p:nvPr>
        </p:nvSpPr>
        <p:spPr/>
        <p:txBody>
          <a:bodyPr/>
          <a:lstStyle/>
          <a:p>
            <a:fld id="{B0778FDB-51D1-402D-8E12-F2EFE762D4DA}" type="datetimeFigureOut">
              <a:rPr lang="en-US" smtClean="0"/>
              <a:t>11/19/2025</a:t>
            </a:fld>
            <a:endParaRPr lang="en-US"/>
          </a:p>
        </p:txBody>
      </p:sp>
      <p:sp>
        <p:nvSpPr>
          <p:cNvPr id="5" name="Footer Placeholder 4">
            <a:extLst>
              <a:ext uri="{FF2B5EF4-FFF2-40B4-BE49-F238E27FC236}">
                <a16:creationId xmlns:a16="http://schemas.microsoft.com/office/drawing/2014/main" id="{5FE80CB9-EDED-CCB5-63EC-CE2434A410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6DCFC6-EA2D-9C26-6794-D0326E486979}"/>
              </a:ext>
            </a:extLst>
          </p:cNvPr>
          <p:cNvSpPr>
            <a:spLocks noGrp="1"/>
          </p:cNvSpPr>
          <p:nvPr>
            <p:ph type="sldNum" sz="quarter" idx="12"/>
          </p:nvPr>
        </p:nvSpPr>
        <p:spPr/>
        <p:txBody>
          <a:bodyPr/>
          <a:lstStyle/>
          <a:p>
            <a:fld id="{84C88236-BD0C-4EE4-BD20-5A8E56D95584}" type="slidenum">
              <a:rPr lang="en-US" smtClean="0"/>
              <a:t>‹#›</a:t>
            </a:fld>
            <a:endParaRPr lang="en-US"/>
          </a:p>
        </p:txBody>
      </p:sp>
    </p:spTree>
    <p:extLst>
      <p:ext uri="{BB962C8B-B14F-4D97-AF65-F5344CB8AC3E}">
        <p14:creationId xmlns:p14="http://schemas.microsoft.com/office/powerpoint/2010/main" val="1328045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D27AB1-7302-A186-D8E0-9283F280FE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0C276E-F842-1675-BA36-80875D1E7F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B867A-FC8E-4599-2D55-2B6FED13A327}"/>
              </a:ext>
            </a:extLst>
          </p:cNvPr>
          <p:cNvSpPr>
            <a:spLocks noGrp="1"/>
          </p:cNvSpPr>
          <p:nvPr>
            <p:ph type="dt" sz="half" idx="10"/>
          </p:nvPr>
        </p:nvSpPr>
        <p:spPr/>
        <p:txBody>
          <a:bodyPr/>
          <a:lstStyle/>
          <a:p>
            <a:fld id="{B0778FDB-51D1-402D-8E12-F2EFE762D4DA}" type="datetimeFigureOut">
              <a:rPr lang="en-US" smtClean="0"/>
              <a:t>11/19/2025</a:t>
            </a:fld>
            <a:endParaRPr lang="en-US"/>
          </a:p>
        </p:txBody>
      </p:sp>
      <p:sp>
        <p:nvSpPr>
          <p:cNvPr id="5" name="Footer Placeholder 4">
            <a:extLst>
              <a:ext uri="{FF2B5EF4-FFF2-40B4-BE49-F238E27FC236}">
                <a16:creationId xmlns:a16="http://schemas.microsoft.com/office/drawing/2014/main" id="{550D4FCC-4ED5-68BE-5302-E0EB742EED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159F0D-5BD0-214B-95B8-1265FB5C9C26}"/>
              </a:ext>
            </a:extLst>
          </p:cNvPr>
          <p:cNvSpPr>
            <a:spLocks noGrp="1"/>
          </p:cNvSpPr>
          <p:nvPr>
            <p:ph type="sldNum" sz="quarter" idx="12"/>
          </p:nvPr>
        </p:nvSpPr>
        <p:spPr/>
        <p:txBody>
          <a:bodyPr/>
          <a:lstStyle/>
          <a:p>
            <a:fld id="{84C88236-BD0C-4EE4-BD20-5A8E56D95584}" type="slidenum">
              <a:rPr lang="en-US" smtClean="0"/>
              <a:t>‹#›</a:t>
            </a:fld>
            <a:endParaRPr lang="en-US"/>
          </a:p>
        </p:txBody>
      </p:sp>
    </p:spTree>
    <p:extLst>
      <p:ext uri="{BB962C8B-B14F-4D97-AF65-F5344CB8AC3E}">
        <p14:creationId xmlns:p14="http://schemas.microsoft.com/office/powerpoint/2010/main" val="2783392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a:t>Event Name or Presentation Title</a:t>
            </a:r>
          </a:p>
        </p:txBody>
      </p:sp>
      <p:sp>
        <p:nvSpPr>
          <p:cNvPr id="5" name="Text Placeholder 4"/>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a:t>Speaker name or subtitle text</a:t>
            </a:r>
          </a:p>
        </p:txBody>
      </p:sp>
      <p:pic>
        <p:nvPicPr>
          <p:cNvPr id="3" name="Picture 2" descr="A picture containing text, clipart&#10;&#10;Description automatically generated"/>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399269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a:t>Event Name or Presentation Title</a:t>
            </a:r>
          </a:p>
        </p:txBody>
      </p:sp>
      <p:sp>
        <p:nvSpPr>
          <p:cNvPr id="5" name="Text Placeholder 4"/>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a:t>Speaker name or subtitle text</a:t>
            </a:r>
          </a:p>
        </p:txBody>
      </p:sp>
      <p:pic>
        <p:nvPicPr>
          <p:cNvPr id="3" name="Picture 2" descr="A picture containing text, clipart&#10;&#10;Description automatically generated"/>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178844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44710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pic>
        <p:nvPicPr>
          <p:cNvPr id="7" name="Picture 6"/>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307547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p>
        </p:txBody>
      </p:sp>
      <p:sp>
        <p:nvSpPr>
          <p:cNvPr id="4" name="Content Placeholder 3"/>
          <p:cNvSpPr>
            <a:spLocks noGrp="1"/>
          </p:cNvSpPr>
          <p:nvPr>
            <p:ph sz="quarter" idx="10"/>
          </p:nvPr>
        </p:nvSpPr>
        <p:spPr>
          <a:xfrm>
            <a:off x="584200" y="1432111"/>
            <a:ext cx="11018838" cy="4836927"/>
          </a:xfrm>
        </p:spPr>
        <p:txBody>
          <a:bodyPr/>
          <a:lstStyle>
            <a:lvl1pPr marL="228600" indent="-228600">
              <a:buSzPct val="90000"/>
              <a:buFont typeface="Arial" panose="02080604020202020204" pitchFamily="34" charset="0"/>
              <a:buChar char="•"/>
              <a:defRPr/>
            </a:lvl1pPr>
            <a:lvl2pPr marL="457200" indent="-228600">
              <a:buSzPct val="90000"/>
              <a:buFont typeface="Arial" panose="02080604020202020204" pitchFamily="34" charset="0"/>
              <a:buChar char="•"/>
              <a:defRPr/>
            </a:lvl2pPr>
            <a:lvl3pPr marL="657225" indent="-200025">
              <a:buSzPct val="90000"/>
              <a:buFont typeface="Arial" panose="02080604020202020204" pitchFamily="34" charset="0"/>
              <a:buChar char="•"/>
              <a:defRPr/>
            </a:lvl3pPr>
            <a:lvl4pPr marL="843280" indent="-180975">
              <a:buSzPct val="90000"/>
              <a:buFont typeface="Arial" panose="02080604020202020204" pitchFamily="34" charset="0"/>
              <a:buChar char="•"/>
              <a:defRPr/>
            </a:lvl4pPr>
            <a:lvl5pPr marL="1024255" indent="-168275">
              <a:buSzPct val="90000"/>
              <a:buFont typeface="Arial" panose="0208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084489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p:cNvSpPr>
            <a:spLocks noGrp="1"/>
          </p:cNvSpPr>
          <p:nvPr>
            <p:ph type="title"/>
          </p:nvPr>
        </p:nvSpPr>
        <p:spPr/>
        <p:txBody>
          <a:bodyPr anchor="t"/>
          <a:lstStyle/>
          <a:p>
            <a:r>
              <a:rPr lang="en-US"/>
              <a:t>Click to edit Master title style</a:t>
            </a:r>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820754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p>
        </p:txBody>
      </p:sp>
      <p:sp>
        <p:nvSpPr>
          <p:cNvPr id="5" name="Content Placeholder 4"/>
          <p:cNvSpPr>
            <a:spLocks noGrp="1"/>
          </p:cNvSpPr>
          <p:nvPr>
            <p:ph sz="quarter" idx="12"/>
          </p:nvPr>
        </p:nvSpPr>
        <p:spPr>
          <a:xfrm>
            <a:off x="584200" y="1435100"/>
            <a:ext cx="5211763" cy="4831110"/>
          </a:xfrm>
        </p:spPr>
        <p:txBody>
          <a:bodyPr/>
          <a:lstStyle>
            <a:lvl1pPr marL="228600" indent="-228600">
              <a:buSzPct val="90000"/>
              <a:buFont typeface="Arial" panose="02080604020202020204" pitchFamily="34" charset="0"/>
              <a:buChar char="•"/>
              <a:defRPr/>
            </a:lvl1pPr>
            <a:lvl2pPr marL="457200" indent="-228600">
              <a:buSzPct val="90000"/>
              <a:buFont typeface="Arial" panose="02080604020202020204" pitchFamily="34" charset="0"/>
              <a:buChar char="•"/>
              <a:defRPr/>
            </a:lvl2pPr>
            <a:lvl3pPr marL="657225" indent="-200025">
              <a:buSzPct val="90000"/>
              <a:buFont typeface="Arial" panose="02080604020202020204" pitchFamily="34" charset="0"/>
              <a:buChar char="•"/>
              <a:defRPr/>
            </a:lvl3pPr>
            <a:lvl4pPr marL="843280" indent="-180975">
              <a:buSzPct val="90000"/>
              <a:buFont typeface="Arial" panose="02080604020202020204" pitchFamily="34" charset="0"/>
              <a:buChar char="•"/>
              <a:defRPr/>
            </a:lvl4pPr>
            <a:lvl5pPr marL="1024255" indent="-168275">
              <a:buSzPct val="90000"/>
              <a:buFont typeface="Arial" panose="0208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3"/>
          </p:nvPr>
        </p:nvSpPr>
        <p:spPr>
          <a:xfrm>
            <a:off x="6389688" y="1435100"/>
            <a:ext cx="5219700" cy="4831110"/>
          </a:xfrm>
        </p:spPr>
        <p:txBody>
          <a:bodyPr/>
          <a:lstStyle>
            <a:lvl1pPr marL="228600" indent="-228600">
              <a:buSzPct val="90000"/>
              <a:buFont typeface="Arial" panose="02080604020202020204" pitchFamily="34" charset="0"/>
              <a:buChar char="•"/>
              <a:defRPr/>
            </a:lvl1pPr>
            <a:lvl2pPr marL="457200" indent="-228600">
              <a:buSzPct val="90000"/>
              <a:buFont typeface="Arial" panose="02080604020202020204" pitchFamily="34" charset="0"/>
              <a:buChar char="•"/>
              <a:defRPr/>
            </a:lvl2pPr>
            <a:lvl3pPr marL="657225" indent="-200025">
              <a:buSzPct val="90000"/>
              <a:buFont typeface="Arial" panose="02080604020202020204" pitchFamily="34" charset="0"/>
              <a:buChar char="•"/>
              <a:defRPr/>
            </a:lvl3pPr>
            <a:lvl4pPr marL="843280" indent="-180975">
              <a:buSzPct val="90000"/>
              <a:buFont typeface="Arial" panose="02080604020202020204" pitchFamily="34" charset="0"/>
              <a:buChar char="•"/>
              <a:defRPr/>
            </a:lvl4pPr>
            <a:lvl5pPr marL="1024255" indent="-168275">
              <a:buSzPct val="90000"/>
              <a:buFont typeface="Arial" panose="0208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962443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p:cNvSpPr>
            <a:spLocks noGrp="1"/>
          </p:cNvSpPr>
          <p:nvPr>
            <p:ph type="title"/>
          </p:nvPr>
        </p:nvSpPr>
        <p:spPr>
          <a:xfrm>
            <a:off x="588263" y="591790"/>
            <a:ext cx="11018520" cy="430887"/>
          </a:xfrm>
        </p:spPr>
        <p:txBody>
          <a:bodyPr anchor="t"/>
          <a:lstStyle/>
          <a:p>
            <a:r>
              <a:rPr lang="en-US"/>
              <a:t>Click to edit Master title style</a:t>
            </a:r>
          </a:p>
        </p:txBody>
      </p:sp>
      <p:sp>
        <p:nvSpPr>
          <p:cNvPr id="5" name="Text Placeholder 3"/>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183506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p>
        </p:txBody>
      </p:sp>
    </p:spTree>
    <p:extLst>
      <p:ext uri="{BB962C8B-B14F-4D97-AF65-F5344CB8AC3E}">
        <p14:creationId xmlns:p14="http://schemas.microsoft.com/office/powerpoint/2010/main" val="13605129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mall title - half page">
    <p:spTree>
      <p:nvGrpSpPr>
        <p:cNvPr id="1" name=""/>
        <p:cNvGrpSpPr/>
        <p:nvPr/>
      </p:nvGrpSpPr>
      <p:grpSpPr>
        <a:xfrm>
          <a:off x="0" y="0"/>
          <a:ext cx="0" cy="0"/>
          <a:chOff x="0" y="0"/>
          <a:chExt cx="0" cy="0"/>
        </a:xfrm>
      </p:grpSpPr>
      <p:sp>
        <p:nvSpPr>
          <p:cNvPr id="3" name="Title 1"/>
          <p:cNvSpPr>
            <a:spLocks noGrp="1"/>
          </p:cNvSpPr>
          <p:nvPr>
            <p:ph type="title"/>
          </p:nvPr>
        </p:nvSpPr>
        <p:spPr>
          <a:xfrm>
            <a:off x="588263" y="3182778"/>
            <a:ext cx="11018520" cy="492443"/>
          </a:xfrm>
        </p:spPr>
        <p:txBody>
          <a:bodyPr/>
          <a:lstStyle>
            <a:lvl1pPr algn="ctr">
              <a:defRPr sz="3200"/>
            </a:lvl1pPr>
          </a:lstStyle>
          <a:p>
            <a:r>
              <a:rPr lang="en-US"/>
              <a:t>Click to edit Master title style</a:t>
            </a:r>
          </a:p>
        </p:txBody>
      </p:sp>
    </p:spTree>
    <p:extLst>
      <p:ext uri="{BB962C8B-B14F-4D97-AF65-F5344CB8AC3E}">
        <p14:creationId xmlns:p14="http://schemas.microsoft.com/office/powerpoint/2010/main" val="138593246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Picture Placeholder" descr="This photo is a 'placeholder' only. Drag or drop your photo here, or click and tap the center to insert a photo."/>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 name="Picture Placeholder" descr="This photo is a 'placeholder' only. Drag or drop your photo here, or click and tap the center to insert a photo."/>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 name="Picture Placeholder" descr="This photo is a 'placeholder' only. Drag or drop your photo here, or click and tap the center to insert a photo."/>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 name="Picture Placeholder" descr="This photo is a 'placeholder' only. Drag or drop your photo here, or click and tap the center to insert a photo."/>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 name="Picture Placeholder" descr="This photo is a 'placeholder' only. Drag or drop your photo here, or click and tap the center to insert a photo."/>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8" name="Picture Placeholder" descr="This photo is a 'placeholder' only. Drag or drop your photo here, or click and tap the center to insert a photo."/>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9" name="Picture Placeholder" descr="This photo is a 'placeholder' only. Drag or drop your photo here, or click and tap the center to insert a photo."/>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0" name="Picture Placeholder" descr="This photo is a 'placeholder' only. Drag or drop your photo here, or click and tap the center to insert a photo."/>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1" name="Picture Placeholder" descr="This photo is a 'placeholder' only. Drag or drop your photo here, or click and tap the center to insert a photo."/>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2" name="Picture Placeholder" descr="This photo is a 'placeholder' only. Drag or drop your photo here, or click and tap the center to insert a photo."/>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3" name="Picture Placeholder" descr="This photo is a 'placeholder' only. Drag or drop your photo here, or click and tap the center to insert a photo."/>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4" name="Picture Placeholder" descr="This photo is a 'placeholder' only. Drag or drop your photo here, or click and tap the center to insert a photo."/>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5" name="Picture Placeholder" descr="This photo is a 'placeholder' only. Drag or drop your photo here, or click and tap the center to insert a photo."/>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6" name="Picture Placeholder" descr="This photo is a 'placeholder' only. Drag or drop your photo here, or click and tap the center to insert a photo."/>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7" name="Picture Placeholder" descr="This photo is a 'placeholder' only. Drag or drop your photo here, or click and tap the center to insert a photo."/>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8" name="Picture Placeholder" descr="This photo is a 'placeholder' only. Drag or drop your photo here, or click and tap the center to insert a photo."/>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9" name="Picture Placeholder" descr="This photo is a 'placeholder' only. Drag or drop your photo here, or click and tap the center to insert a photo."/>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0" name="Picture Placeholder" descr="This photo is a 'placeholder' only. Drag or drop your photo here, or click and tap the center to insert a photo."/>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1" name="Picture Placeholder" descr="This photo is a 'placeholder' only. Drag or drop your photo here, or click and tap the center to insert a photo."/>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2" name="Picture Placeholder" descr="This photo is a 'placeholder' only. Drag or drop your photo here, or click and tap the center to insert a photo."/>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3" name="Picture Placeholder" descr="This photo is a 'placeholder' only. Drag or drop your photo here, or click and tap the center to insert a photo."/>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4" name="Picture Placeholder" descr="This photo is a 'placeholder' only. Drag or drop your photo here, or click and tap the center to insert a photo."/>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7" name="Picture Placeholder" descr="This photo is a 'placeholder' only. Drag or drop your photo here, or click and tap the center to insert a photo."/>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8" name="Picture Placeholder" descr="This photo is a 'placeholder' only. Drag or drop your photo here, or click and tap the center to insert a photo."/>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9" name="Picture Placeholder" descr="This photo is a 'placeholder' only. Drag or drop your photo here, or click and tap the center to insert a photo."/>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0" name="Picture Placeholder" descr="This photo is a 'placeholder' only. Drag or drop your photo here, or click and tap the center to insert a photo."/>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1" name="Picture Placeholder" descr="This photo is a 'placeholder' only. Drag or drop your photo here, or click and tap the center to insert a photo."/>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2" name="Picture Placeholder" descr="This photo is a 'placeholder' only. Drag or drop your photo here, or click and tap the center to insert a photo."/>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3" name="Picture Placeholder" descr="This photo is a 'placeholder' only. Drag or drop your photo here, or click and tap the center to insert a photo."/>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4" name="Picture Placeholder" descr="This photo is a 'placeholder' only. Drag or drop your photo here, or click and tap the center to insert a photo."/>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5" name="Picture Placeholder" descr="This photo is a 'placeholder' only. Drag or drop your photo here, or click and tap the center to insert a photo."/>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6" name="Picture Placeholder" descr="This photo is a 'placeholder' only. Drag or drop your photo here, or click and tap the center to insert a photo."/>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7" name="Picture Placeholder" descr="This photo is a 'placeholder' only. Drag or drop your photo here, or click and tap the center to insert a photo."/>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8" name="Picture Placeholder" descr="This photo is a 'placeholder' only. Drag or drop your photo here, or click and tap the center to insert a photo."/>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9" name="Picture Placeholder" descr="This photo is a 'placeholder' only. Drag or drop your photo here, or click and tap the center to insert a photo."/>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0" name="Picture Placeholder" descr="This photo is a 'placeholder' only. Drag or drop your photo here, or click and tap the center to insert a photo."/>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1" name="Picture Placeholder" descr="This photo is a 'placeholder' only. Drag or drop your photo here, or click and tap the center to insert a photo."/>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2" name="Picture Placeholder" descr="This photo is a 'placeholder' only. Drag or drop your photo here, or click and tap the center to insert a photo."/>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3" name="Picture Placeholder" descr="This photo is a 'placeholder' only. Drag or drop your photo here, or click and tap the center to insert a photo."/>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4" name="Picture Placeholder" descr="This photo is a 'placeholder' only. Drag or drop your photo here, or click and tap the center to insert a photo."/>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5" name="Picture Placeholder" descr="This photo is a 'placeholder' only. Drag or drop your photo here, or click and tap the center to insert a photo."/>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6" name="Picture Placeholder" descr="This photo is a 'placeholder' only. Drag or drop your photo here, or click and tap the center to insert a photo."/>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7" name="Picture Placeholder" descr="This photo is a 'placeholder' only. Drag or drop your photo here, or click and tap the center to insert a photo."/>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8" name="Picture Placeholder" descr="This photo is a 'placeholder' only. Drag or drop your photo here, or click and tap the center to insert a photo."/>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9" name="Picture Placeholder" descr="This photo is a 'placeholder' only. Drag or drop your photo here, or click and tap the center to insert a photo."/>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0" name="Picture Placeholder" descr="This photo is a 'placeholder' only. Drag or drop your photo here, or click and tap the center to insert a photo."/>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1" name="Picture Placeholder" descr="This photo is a 'placeholder' only. Drag or drop your photo here, or click and tap the center to insert a photo."/>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2" name="Picture Placeholder" descr="This photo is a 'placeholder' only. Drag or drop your photo here, or click and tap the center to insert a photo."/>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3" name="Picture Placeholder" descr="This photo is a 'placeholder' only. Drag or drop your photo here, or click and tap the center to insert a photo."/>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4" name="Picture Placeholder" descr="This photo is a 'placeholder' only. Drag or drop your photo here, or click and tap the center to insert a photo."/>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5" name="Picture Placeholder" descr="This photo is a 'placeholder' only. Drag or drop your photo here, or click and tap the center to insert a photo."/>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6" name="Picture Placeholder" descr="This photo is a 'placeholder' only. Drag or drop your photo here, or click and tap the center to insert a photo."/>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7" name="Picture Placeholder" descr="This photo is a 'placeholder' only. Drag or drop your photo here, or click and tap the center to insert a photo."/>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8" name="Picture Placeholder" descr="This photo is a 'placeholder' only. Drag or drop your photo here, or click and tap the center to insert a photo."/>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9" name="Picture Placeholder" descr="This photo is a 'placeholder' only. Drag or drop your photo here, or click and tap the center to insert a photo."/>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Tree>
    <p:extLst>
      <p:ext uri="{BB962C8B-B14F-4D97-AF65-F5344CB8AC3E}">
        <p14:creationId xmlns:p14="http://schemas.microsoft.com/office/powerpoint/2010/main" val="374744268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itle 2"/>
          <p:cNvSpPr>
            <a:spLocks noGrp="1"/>
          </p:cNvSpPr>
          <p:nvPr>
            <p:ph type="title"/>
          </p:nvPr>
        </p:nvSpPr>
        <p:spPr>
          <a:xfrm>
            <a:off x="588263" y="2262425"/>
            <a:ext cx="4158362" cy="861774"/>
          </a:xfrm>
        </p:spPr>
        <p:txBody>
          <a:bodyPr anchor="b"/>
          <a:lstStyle>
            <a:lvl1pPr>
              <a:defRPr/>
            </a:lvl1pPr>
          </a:lstStyle>
          <a:p>
            <a:r>
              <a:rPr lang="en-US"/>
              <a:t>Click to edit Master title style</a:t>
            </a:r>
          </a:p>
        </p:txBody>
      </p:sp>
      <p:sp>
        <p:nvSpPr>
          <p:cNvPr id="4" name="Text Placeholder 3"/>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2305" indent="0">
              <a:buNone/>
              <a:defRPr/>
            </a:lvl4pPr>
            <a:lvl5pPr marL="855980" indent="0">
              <a:buNone/>
              <a:defRPr/>
            </a:lvl5pPr>
          </a:lstStyle>
          <a:p>
            <a:pPr lvl="0"/>
            <a:r>
              <a:rPr lang="en-US"/>
              <a:t>Click to edit Master text styles</a:t>
            </a:r>
          </a:p>
        </p:txBody>
      </p:sp>
    </p:spTree>
    <p:extLst>
      <p:ext uri="{BB962C8B-B14F-4D97-AF65-F5344CB8AC3E}">
        <p14:creationId xmlns:p14="http://schemas.microsoft.com/office/powerpoint/2010/main" val="137406895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p>
        </p:txBody>
      </p:sp>
      <p:sp>
        <p:nvSpPr>
          <p:cNvPr id="6" name="Content Placeholder 4"/>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descr="This photo is a 'placeholder' only. Drag or drop your photo here, or click and tap the center to insert a photo."/>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577925546"/>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op Horizontal Photo and Title">
    <p:spTree>
      <p:nvGrpSpPr>
        <p:cNvPr id="1" name=""/>
        <p:cNvGrpSpPr/>
        <p:nvPr/>
      </p:nvGrpSpPr>
      <p:grpSpPr>
        <a:xfrm>
          <a:off x="0" y="0"/>
          <a:ext cx="0" cy="0"/>
          <a:chOff x="0" y="0"/>
          <a:chExt cx="0" cy="0"/>
        </a:xfrm>
      </p:grpSpPr>
      <p:sp>
        <p:nvSpPr>
          <p:cNvPr id="2" name="Title 1"/>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12591748"/>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op Horizontal Photo, Lockup and Title">
    <p:spTree>
      <p:nvGrpSpPr>
        <p:cNvPr id="1" name=""/>
        <p:cNvGrpSpPr/>
        <p:nvPr/>
      </p:nvGrpSpPr>
      <p:grpSpPr>
        <a:xfrm>
          <a:off x="0" y="0"/>
          <a:ext cx="0" cy="0"/>
          <a:chOff x="0" y="0"/>
          <a:chExt cx="0" cy="0"/>
        </a:xfrm>
      </p:grpSpPr>
      <p:sp>
        <p:nvSpPr>
          <p:cNvPr id="2" name="Title 1"/>
          <p:cNvSpPr>
            <a:spLocks noGrp="1"/>
          </p:cNvSpPr>
          <p:nvPr>
            <p:ph type="title"/>
          </p:nvPr>
        </p:nvSpPr>
        <p:spPr>
          <a:xfrm>
            <a:off x="3821381" y="5157216"/>
            <a:ext cx="7785402"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pic>
        <p:nvPicPr>
          <p:cNvPr id="5" name="Picture 4"/>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5217" y="5449153"/>
            <a:ext cx="2176078" cy="518616"/>
          </a:xfrm>
          <a:prstGeom prst="rect">
            <a:avLst/>
          </a:prstGeom>
        </p:spPr>
      </p:pic>
      <p:cxnSp>
        <p:nvCxnSpPr>
          <p:cNvPr id="6" name="Straight Connector 5"/>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442621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07478042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a:t>Drag and drop your photo here</a:t>
            </a:r>
            <a:br>
              <a:rPr lang="en-US"/>
            </a:br>
            <a:r>
              <a:rPr lang="en-US"/>
              <a:t>or click or tap icon below</a:t>
            </a:r>
            <a:br>
              <a:rPr lang="en-US"/>
            </a:br>
            <a:r>
              <a:rPr lang="en-US"/>
              <a:t>to insert</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599889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267024"/>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7" name="Text Placeholder 6"/>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17" name="Content Placeholder 16"/>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4"/>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19" name="Text Placeholder 6"/>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0" name="Content Placeholder 16"/>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Text Placeholder 4"/>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22" name="Text Placeholder 6"/>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3" name="Content Placeholder 16"/>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998528"/>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80604020202020204" pitchFamily="34" charset="0"/>
              <a:ea typeface="+mn-ea"/>
              <a:cs typeface="Arial" panose="02080604020202020204" pitchFamily="34" charset="0"/>
            </a:endParaRPr>
          </a:p>
        </p:txBody>
      </p:sp>
      <p:sp>
        <p:nvSpPr>
          <p:cNvPr id="35" name="Text Placeholder 3"/>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6"/>
          <p:cNvSpPr>
            <a:spLocks noGrp="1"/>
          </p:cNvSpPr>
          <p:nvPr>
            <p:ph type="body" sz="quarter" idx="16"/>
          </p:nvPr>
        </p:nvSpPr>
        <p:spPr>
          <a:xfrm>
            <a:off x="816555"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Rectangle 21"/>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marL="0" marR="0" lvl="0" indent="0" algn="l" defTabSz="93218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anose="020B0502040204020203" pitchFamily="34" charset="0"/>
              <a:cs typeface="Segoe UI" panose="020B0502040204020203" pitchFamily="34" charset="0"/>
            </a:endParaRPr>
          </a:p>
        </p:txBody>
      </p:sp>
      <p:sp>
        <p:nvSpPr>
          <p:cNvPr id="9" name="Picture Placeholder" descr="This photo is a 'placeholder' only. Drag or drop your photo here, or click and tap the center to insert a photo."/>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3" name="Rectangle 22"/>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80604020202020204" pitchFamily="34" charset="0"/>
              <a:ea typeface="+mn-ea"/>
              <a:cs typeface="Arial" panose="02080604020202020204" pitchFamily="34" charset="0"/>
            </a:endParaRPr>
          </a:p>
        </p:txBody>
      </p:sp>
      <p:sp>
        <p:nvSpPr>
          <p:cNvPr id="26" name="Text Placeholder 6"/>
          <p:cNvSpPr>
            <a:spLocks noGrp="1"/>
          </p:cNvSpPr>
          <p:nvPr>
            <p:ph type="body" sz="quarter" idx="17"/>
          </p:nvPr>
        </p:nvSpPr>
        <p:spPr>
          <a:xfrm>
            <a:off x="4587239"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Rectangle 26"/>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marL="0" marR="0" lvl="0" indent="0" algn="l" defTabSz="93218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anose="020B0502040204020203" pitchFamily="34" charset="0"/>
              <a:cs typeface="Segoe UI" panose="020B0502040204020203" pitchFamily="34" charset="0"/>
            </a:endParaRPr>
          </a:p>
        </p:txBody>
      </p:sp>
      <p:sp>
        <p:nvSpPr>
          <p:cNvPr id="28" name="Picture Placeholder" descr="This photo is a 'placeholder' only. Drag or drop your photo here, or click and tap the center to insert a photo."/>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9" name="Rectangle 28"/>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80604020202020204" pitchFamily="34" charset="0"/>
              <a:ea typeface="+mn-ea"/>
              <a:cs typeface="Arial" panose="02080604020202020204" pitchFamily="34" charset="0"/>
            </a:endParaRPr>
          </a:p>
        </p:txBody>
      </p:sp>
      <p:sp>
        <p:nvSpPr>
          <p:cNvPr id="32" name="Text Placeholder 6"/>
          <p:cNvSpPr>
            <a:spLocks noGrp="1"/>
          </p:cNvSpPr>
          <p:nvPr>
            <p:ph type="body" sz="quarter" idx="19"/>
          </p:nvPr>
        </p:nvSpPr>
        <p:spPr>
          <a:xfrm>
            <a:off x="8357924" y="3892110"/>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Rectangle 32"/>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marL="0" marR="0" lvl="0" indent="0" algn="l" defTabSz="932180"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anose="020B0502040204020203" pitchFamily="34" charset="0"/>
              <a:cs typeface="Segoe UI" panose="020B0502040204020203" pitchFamily="34" charset="0"/>
            </a:endParaRPr>
          </a:p>
        </p:txBody>
      </p:sp>
      <p:sp>
        <p:nvSpPr>
          <p:cNvPr id="34" name="Picture Placeholder" descr="This photo is a 'placeholder' only. Drag or drop your photo here, or click and tap the center to insert a photo."/>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 Placeholder 3"/>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6" name="Text Placeholder 3"/>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7" name="Text Placeholder 3"/>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Title 1"/>
          <p:cNvSpPr>
            <a:spLocks noGrp="1"/>
          </p:cNvSpPr>
          <p:nvPr>
            <p:ph type="title"/>
          </p:nvPr>
        </p:nvSpPr>
        <p:spPr>
          <a:xfrm>
            <a:off x="588263" y="591790"/>
            <a:ext cx="11018520" cy="430887"/>
          </a:xfrm>
        </p:spPr>
        <p:txBody>
          <a:bodyPr anchor="t"/>
          <a:lstStyle/>
          <a:p>
            <a:r>
              <a:rPr lang="en-US"/>
              <a:t>Click to edit Master title style</a:t>
            </a:r>
          </a:p>
        </p:txBody>
      </p:sp>
    </p:spTree>
    <p:extLst>
      <p:ext uri="{BB962C8B-B14F-4D97-AF65-F5344CB8AC3E}">
        <p14:creationId xmlns:p14="http://schemas.microsoft.com/office/powerpoint/2010/main" val="1456058163"/>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464800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p:cNvSpPr/>
          <p:nvPr userDrawn="1"/>
        </p:nvSpPr>
        <p:spPr bwMode="auto">
          <a:xfrm>
            <a:off x="72575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18" name="Rectangle 17"/>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5" name="Text Placeholder 4"/>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7" name="Text Placeholder 6"/>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19" name="Text Placeholder 18"/>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Rectangle 19"/>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21" name="Rectangle 20"/>
          <p:cNvSpPr/>
          <p:nvPr userDrawn="1"/>
        </p:nvSpPr>
        <p:spPr bwMode="auto">
          <a:xfrm>
            <a:off x="725755"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22" name="Text Placeholder 4"/>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3" name="Text Placeholder 6"/>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4" name="Text Placeholder 18"/>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Rectangle 24"/>
          <p:cNvSpPr/>
          <p:nvPr userDrawn="1"/>
        </p:nvSpPr>
        <p:spPr bwMode="auto">
          <a:xfrm>
            <a:off x="4493592"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26" name="Rectangle 25"/>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27" name="Text Placeholder 4"/>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8" name="Text Placeholder 6"/>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9" name="Text Placeholder 18"/>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Rectangle 29"/>
          <p:cNvSpPr/>
          <p:nvPr userDrawn="1"/>
        </p:nvSpPr>
        <p:spPr bwMode="auto">
          <a:xfrm>
            <a:off x="4502417"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1" name="Rectangle 30"/>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2" name="Text Placeholder 4"/>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3" name="Text Placeholder 6"/>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4" name="Text Placeholder 18"/>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5" name="Rectangle 34"/>
          <p:cNvSpPr/>
          <p:nvPr userDrawn="1"/>
        </p:nvSpPr>
        <p:spPr bwMode="auto">
          <a:xfrm>
            <a:off x="827590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6" name="Rectangle 35"/>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7" name="Text Placeholder 4"/>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8" name="Text Placeholder 6"/>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9" name="Text Placeholder 18"/>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0" name="Rectangle 39"/>
          <p:cNvSpPr/>
          <p:nvPr userDrawn="1"/>
        </p:nvSpPr>
        <p:spPr bwMode="auto">
          <a:xfrm>
            <a:off x="8270254" y="3895725"/>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41" name="Rectangle 40"/>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42" name="Text Placeholder 4"/>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43" name="Text Placeholder 6"/>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44" name="Text Placeholder 18"/>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0636886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a:t>Add a caption</a:t>
            </a:r>
          </a:p>
        </p:txBody>
      </p:sp>
      <p:sp>
        <p:nvSpPr>
          <p:cNvPr id="3" name="Picture Placeholder 2" descr="This screenshot is a 'placeholder' only. Drag or drop your screen shot here, or click and tap the center to insert a photo."/>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a:t>Drag &amp; drop a</a:t>
            </a:r>
            <a:br>
              <a:rPr lang="en-US"/>
            </a:br>
            <a:r>
              <a:rPr lang="en-US"/>
              <a:t>screenshot here</a:t>
            </a:r>
            <a:br>
              <a:rPr lang="en-US"/>
            </a:br>
            <a:r>
              <a:rPr lang="en-US"/>
              <a:t>or click or tap icon</a:t>
            </a:r>
            <a:br>
              <a:rPr lang="en-US"/>
            </a:br>
            <a:r>
              <a:rPr lang="en-US"/>
              <a:t>below to insert</a:t>
            </a:r>
          </a:p>
        </p:txBody>
      </p:sp>
    </p:spTree>
    <p:extLst>
      <p:ext uri="{BB962C8B-B14F-4D97-AF65-F5344CB8AC3E}">
        <p14:creationId xmlns:p14="http://schemas.microsoft.com/office/powerpoint/2010/main" val="157245372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p>
        </p:txBody>
      </p:sp>
      <p:sp>
        <p:nvSpPr>
          <p:cNvPr id="7" name="Text Placeholder 6"/>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p>
        </p:txBody>
      </p:sp>
      <p:cxnSp>
        <p:nvCxnSpPr>
          <p:cNvPr id="4" name="Straight Connector 3"/>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96284"/>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8263" y="585787"/>
            <a:ext cx="3182027" cy="5683249"/>
          </a:xfrm>
        </p:spPr>
        <p:txBody>
          <a:bodyPr anchor="ctr"/>
          <a:lstStyle>
            <a:lvl1pPr>
              <a:defRPr/>
            </a:lvl1pPr>
          </a:lstStyle>
          <a:p>
            <a:r>
              <a:rPr lang="en-US"/>
              <a:t>Title</a:t>
            </a:r>
          </a:p>
        </p:txBody>
      </p:sp>
      <p:sp>
        <p:nvSpPr>
          <p:cNvPr id="3" name="Text Placeholder 2"/>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p>
        </p:txBody>
      </p:sp>
      <p:cxnSp>
        <p:nvCxnSpPr>
          <p:cNvPr id="5" name="Straight Connector 4"/>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99714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815"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anose="020B0502040204020203" pitchFamily="34" charset="0"/>
              </a:defRPr>
            </a:lvl1pPr>
          </a:lstStyle>
          <a:p>
            <a:r>
              <a:rPr lang="en-US"/>
              <a:t>Demo title</a:t>
            </a:r>
          </a:p>
        </p:txBody>
      </p:sp>
      <p:sp>
        <p:nvSpPr>
          <p:cNvPr id="5" name="Text Placeholder 4"/>
          <p:cNvSpPr>
            <a:spLocks noGrp="1"/>
          </p:cNvSpPr>
          <p:nvPr>
            <p:ph type="body" sz="quarter" idx="12"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80604020202020204" pitchFamily="34" charset="0"/>
              <a:buNone/>
              <a:defRPr sz="2000" spc="0" baseline="0">
                <a:solidFill>
                  <a:schemeClr val="accent2"/>
                </a:solidFill>
                <a:latin typeface="+mn-lt"/>
              </a:defRPr>
            </a:lvl1pPr>
          </a:lstStyle>
          <a:p>
            <a:pPr lvl="0"/>
            <a:r>
              <a:rPr lang="en-US"/>
              <a:t>Speaker name</a:t>
            </a:r>
          </a:p>
        </p:txBody>
      </p:sp>
      <p:pic>
        <p:nvPicPr>
          <p:cNvPr id="7" name="Picture 6"/>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Tree>
    <p:extLst>
      <p:ext uri="{BB962C8B-B14F-4D97-AF65-F5344CB8AC3E}">
        <p14:creationId xmlns:p14="http://schemas.microsoft.com/office/powerpoint/2010/main" val="576807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0955" y="3104745"/>
            <a:ext cx="6181081" cy="443198"/>
          </a:xfrm>
          <a:noFill/>
        </p:spPr>
        <p:txBody>
          <a:bodyPr wrap="square" lIns="0" tIns="0" rIns="0" bIns="0" anchor="b" anchorCtr="0">
            <a:spAutoFit/>
          </a:bodyPr>
          <a:lstStyle>
            <a:lvl1pPr algn="l" defTabSz="932815"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anose="020B0502040204020203" pitchFamily="34" charset="0"/>
              </a:defRPr>
            </a:lvl1pPr>
          </a:lstStyle>
          <a:p>
            <a:r>
              <a:rPr lang="en-US"/>
              <a:t>Divider slide title</a:t>
            </a:r>
          </a:p>
        </p:txBody>
      </p:sp>
      <p:sp>
        <p:nvSpPr>
          <p:cNvPr id="5" name="Text Placeholder 4"/>
          <p:cNvSpPr>
            <a:spLocks noGrp="1"/>
          </p:cNvSpPr>
          <p:nvPr>
            <p:ph type="body" sz="quarter" idx="12" hasCustomPrompt="1"/>
          </p:nvPr>
        </p:nvSpPr>
        <p:spPr>
          <a:xfrm>
            <a:off x="5290955" y="3680069"/>
            <a:ext cx="6181081" cy="307777"/>
          </a:xfrm>
          <a:noFill/>
        </p:spPr>
        <p:txBody>
          <a:bodyPr wrap="square" lIns="0" tIns="0" rIns="0" bIns="0">
            <a:spAutoFit/>
          </a:bodyPr>
          <a:lstStyle>
            <a:lvl1pPr marL="0" indent="0">
              <a:spcBef>
                <a:spcPts val="0"/>
              </a:spcBef>
              <a:spcAft>
                <a:spcPts val="0"/>
              </a:spcAft>
              <a:buFont typeface="Arial" panose="02080604020202020204" pitchFamily="34" charset="0"/>
              <a:buNone/>
              <a:defRPr sz="2000" spc="0" baseline="0">
                <a:solidFill>
                  <a:schemeClr val="accent2"/>
                </a:solidFill>
                <a:latin typeface="+mn-lt"/>
              </a:defRPr>
            </a:lvl1pPr>
          </a:lstStyle>
          <a:p>
            <a:pPr lvl="0"/>
            <a:r>
              <a:rPr lang="en-US"/>
              <a:t>Speaker name</a:t>
            </a:r>
          </a:p>
        </p:txBody>
      </p:sp>
    </p:spTree>
    <p:extLst>
      <p:ext uri="{BB962C8B-B14F-4D97-AF65-F5344CB8AC3E}">
        <p14:creationId xmlns:p14="http://schemas.microsoft.com/office/powerpoint/2010/main" val="2030552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sp>
        <p:nvSpPr>
          <p:cNvPr id="6" name="Rectangle 5" descr="{&quot;templafy&quot;:{&quot;binding&quot;:&quot;{{Form.Footer}}&quot;,&quot;type&quot;:&quot;text&quot;}}"/>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noAutofit/>
          </a:bodyPr>
          <a:lstStyle/>
          <a:p>
            <a:pPr algn="l" defTabSz="932180" fontAlgn="base">
              <a:spcBef>
                <a:spcPct val="0"/>
              </a:spcBef>
              <a:spcAft>
                <a:spcPct val="0"/>
              </a:spcAft>
            </a:pPr>
            <a:endParaRPr lang="en-GB" sz="75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4" name="Title 1"/>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p>
        </p:txBody>
      </p:sp>
      <p:sp>
        <p:nvSpPr>
          <p:cNvPr id="7" name="Text Placeholder 9"/>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8" name="Picture 7"/>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147807536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5603044"/>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710" indent="0">
              <a:buNone/>
              <a:defRPr sz="1800">
                <a:solidFill>
                  <a:schemeClr val="tx1"/>
                </a:solidFill>
                <a:latin typeface="Consolas" panose="020B0609020204030204" pitchFamily="49" charset="0"/>
                <a:cs typeface="Consolas" panose="020B0609020204030204" pitchFamily="49" charset="0"/>
              </a:defRPr>
            </a:lvl2pPr>
            <a:lvl3pPr marL="584835" indent="0">
              <a:buNone/>
              <a:defRPr sz="1600">
                <a:solidFill>
                  <a:schemeClr val="tx1"/>
                </a:solidFill>
                <a:latin typeface="Consolas" panose="020B0609020204030204" pitchFamily="49" charset="0"/>
                <a:cs typeface="Consolas" panose="020B0609020204030204" pitchFamily="49" charset="0"/>
              </a:defRPr>
            </a:lvl3pPr>
            <a:lvl4pPr marL="814705" indent="0">
              <a:buNone/>
              <a:defRPr sz="1400">
                <a:solidFill>
                  <a:schemeClr val="tx1"/>
                </a:solidFill>
                <a:latin typeface="Consolas" panose="020B0609020204030204" pitchFamily="49" charset="0"/>
                <a:cs typeface="Consolas" panose="020B0609020204030204" pitchFamily="49" charset="0"/>
              </a:defRPr>
            </a:lvl4pPr>
            <a:lvl5pPr marL="1050925" indent="0">
              <a:buNone/>
              <a:defRPr sz="1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9118931"/>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sclaimer and Attribu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2305" indent="0">
              <a:buNone/>
              <a:defRPr sz="1100"/>
            </a:lvl4pPr>
            <a:lvl5pPr marL="85598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9462609"/>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noAutofit/>
          </a:bodyPr>
          <a:lstStyle/>
          <a:p>
            <a:pPr algn="l" defTabSz="932180" fontAlgn="base">
              <a:spcBef>
                <a:spcPct val="0"/>
              </a:spcBef>
              <a:spcAft>
                <a:spcPct val="0"/>
              </a:spcAft>
            </a:pPr>
            <a:endParaRPr lang="en-GB" sz="75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5" name="Picture 4"/>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extLst>
      <p:ext uri="{BB962C8B-B14F-4D97-AF65-F5344CB8AC3E}">
        <p14:creationId xmlns:p14="http://schemas.microsoft.com/office/powerpoint/2010/main" val="88857651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image" Target="../media/image2.png"/><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theme" Target="../theme/theme2.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28F1E1-13F1-C945-30CD-2DBE6B94A5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C783AF-C3BE-4864-FF60-B66C670C26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F6118E-41D0-140B-74D9-3006B9A4CA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778FDB-51D1-402D-8E12-F2EFE762D4DA}" type="datetimeFigureOut">
              <a:rPr lang="en-US" smtClean="0"/>
              <a:t>11/19/2025</a:t>
            </a:fld>
            <a:endParaRPr lang="en-US"/>
          </a:p>
        </p:txBody>
      </p:sp>
      <p:sp>
        <p:nvSpPr>
          <p:cNvPr id="5" name="Footer Placeholder 4">
            <a:extLst>
              <a:ext uri="{FF2B5EF4-FFF2-40B4-BE49-F238E27FC236}">
                <a16:creationId xmlns:a16="http://schemas.microsoft.com/office/drawing/2014/main" id="{107E504A-ACC1-AF67-F3FD-2EF376F4DE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74E3D2-C85A-BFC7-4DA0-6C3535F8B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C88236-BD0C-4EE4-BD20-5A8E56D95584}" type="slidenum">
              <a:rPr lang="en-US" smtClean="0"/>
              <a:t>‹#›</a:t>
            </a:fld>
            <a:endParaRPr lang="en-US"/>
          </a:p>
        </p:txBody>
      </p:sp>
      <p:sp>
        <p:nvSpPr>
          <p:cNvPr id="8" name="TextBox 7">
            <a:extLst>
              <a:ext uri="{FF2B5EF4-FFF2-40B4-BE49-F238E27FC236}">
                <a16:creationId xmlns:a16="http://schemas.microsoft.com/office/drawing/2014/main" id="{C5EE2318-4D8A-7AC0-C4E3-ED3BDB252429}"/>
              </a:ext>
            </a:extLst>
          </p:cNvPr>
          <p:cNvSpPr txBox="1"/>
          <p:nvPr userDrawn="1">
            <p:extLst>
              <p:ext uri="{1162E1C5-73C7-4A58-AE30-91384D911F3F}">
                <p184:classification xmlns:p184="http://schemas.microsoft.com/office/powerpoint/2018/4/main" val="hdr"/>
              </p:ext>
            </p:extLst>
          </p:nvPr>
        </p:nvSpPr>
        <p:spPr>
          <a:xfrm>
            <a:off x="63500" y="63500"/>
            <a:ext cx="1041400"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[Copyright &lt;Year&gt;]</a:t>
            </a:r>
          </a:p>
        </p:txBody>
      </p:sp>
    </p:spTree>
    <p:extLst>
      <p:ext uri="{BB962C8B-B14F-4D97-AF65-F5344CB8AC3E}">
        <p14:creationId xmlns:p14="http://schemas.microsoft.com/office/powerpoint/2010/main" val="1139957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p:cNvGrpSpPr/>
          <p:nvPr userDrawn="1"/>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49" name="TextBox 48"/>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80604020202020204" pitchFamily="34" charset="0"/>
                <a:ea typeface="+mn-ea"/>
                <a:cs typeface="Arial" panose="02080604020202020204" pitchFamily="34" charset="0"/>
              </a:rPr>
              <a:t>‹#›</a:t>
            </a:fld>
            <a:endParaRPr lang="en-US" sz="700" kern="1200" cap="none" spc="10" baseline="0">
              <a:solidFill>
                <a:schemeClr val="tx1"/>
              </a:solidFill>
              <a:latin typeface="Arial" panose="02080604020202020204" pitchFamily="34" charset="0"/>
              <a:ea typeface="+mn-ea"/>
              <a:cs typeface="Arial" panose="02080604020202020204" pitchFamily="34" charset="0"/>
            </a:endParaRPr>
          </a:p>
        </p:txBody>
      </p:sp>
      <p:sp>
        <p:nvSpPr>
          <p:cNvPr id="51" name="TextBox 50"/>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sz="750" spc="10">
                <a:solidFill>
                  <a:schemeClr val="bg1"/>
                </a:solidFill>
                <a:cs typeface="Arial" panose="02080604020202020204" pitchFamily="34" charset="0"/>
              </a:rPr>
              <a:t>|</a:t>
            </a:r>
          </a:p>
        </p:txBody>
      </p:sp>
      <p:sp>
        <p:nvSpPr>
          <p:cNvPr id="50" name="Rectangle 49" descr="{&quot;templafy&quot;:{&quot;binding&quot;:&quot;{{Form.Footer}}&quot;,&quot;type&quot;:&quot;text&quot;}}"/>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noAutofit/>
          </a:bodyPr>
          <a:lstStyle/>
          <a:p>
            <a:pPr algn="l" defTabSz="932180" fontAlgn="base">
              <a:spcBef>
                <a:spcPct val="0"/>
              </a:spcBef>
              <a:spcAft>
                <a:spcPct val="0"/>
              </a:spcAft>
            </a:pPr>
            <a:endParaRPr lang="en-GB" sz="75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54" name="Picture 53" descr="A picture containing text, clipart&#10;&#10;Description automatically generated"/>
          <p:cNvPicPr>
            <a:picLocks noChangeAspect="1"/>
          </p:cNvPicPr>
          <p:nvPr userDrawn="1"/>
        </p:nvPicPr>
        <p:blipFill>
          <a:blip r:embed="rId33"/>
          <a:stretch>
            <a:fillRect/>
          </a:stretch>
        </p:blipFill>
        <p:spPr>
          <a:xfrm>
            <a:off x="10883348" y="6393708"/>
            <a:ext cx="1154036" cy="328680"/>
          </a:xfrm>
          <a:prstGeom prst="rect">
            <a:avLst/>
          </a:prstGeom>
        </p:spPr>
      </p:pic>
      <p:sp>
        <p:nvSpPr>
          <p:cNvPr id="6" name="TextBox 5"/>
          <p:cNvSpPr txBox="1"/>
          <p:nvPr userDrawn="1"/>
        </p:nvSpPr>
        <p:spPr>
          <a:xfrm>
            <a:off x="63500" y="63500"/>
            <a:ext cx="417513" cy="152400"/>
          </a:xfrm>
          <a:prstGeom prst="rect">
            <a:avLst/>
          </a:prstGeom>
        </p:spPr>
        <p:txBody>
          <a:bodyPr horzOverflow="overflow" lIns="0" tIns="0" rIns="0" bIns="0">
            <a:spAutoFit/>
          </a:bodyPr>
          <a:lstStyle/>
          <a:p>
            <a:pPr algn="l"/>
            <a:r>
              <a:rPr lang="en-US" sz="1000">
                <a:solidFill>
                  <a:srgbClr val="008000">
                    <a:alpha val="50000"/>
                  </a:srgbClr>
                </a:solidFill>
                <a:latin typeface="Calibri" panose="020F0502020204030204" pitchFamily="34" charset="0"/>
                <a:ea typeface="Calibri" panose="020F0502020204030204" pitchFamily="34" charset="0"/>
                <a:cs typeface="Calibri" panose="020F0502020204030204" pitchFamily="34" charset="0"/>
              </a:rPr>
              <a:t>[Public]</a:t>
            </a:r>
          </a:p>
        </p:txBody>
      </p:sp>
    </p:spTree>
    <p:extLst>
      <p:ext uri="{BB962C8B-B14F-4D97-AF65-F5344CB8AC3E}">
        <p14:creationId xmlns:p14="http://schemas.microsoft.com/office/powerpoint/2010/main" val="585860880"/>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Lst>
  <p:transition>
    <p:fade/>
  </p:transition>
  <p:hf sldNum="0" hdr="0"/>
  <p:txStyles>
    <p:titleStyle>
      <a:lvl1pPr algn="l" defTabSz="932815"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ts val="600"/>
        </a:spcBef>
        <a:spcAft>
          <a:spcPts val="0"/>
        </a:spcAft>
        <a:buClr>
          <a:schemeClr val="accent1"/>
        </a:buClr>
        <a:buSzPct val="100000"/>
        <a:buFont typeface="Arial" panose="02080604020202020204" pitchFamily="34" charset="0"/>
        <a:buChar char="•"/>
        <a:defRPr sz="1800" kern="1200" spc="0" baseline="0">
          <a:solidFill>
            <a:schemeClr val="tx1"/>
          </a:solidFill>
          <a:latin typeface="+mn-lt"/>
          <a:ea typeface="+mn-ea"/>
          <a:cs typeface="Segoe UI" panose="020B0502040204020203" pitchFamily="34" charset="0"/>
        </a:defRPr>
      </a:lvl1pPr>
      <a:lvl2pPr marL="457200" marR="0" indent="-228600" algn="l" defTabSz="932815" rtl="0" eaLnBrk="1" fontAlgn="auto" latinLnBrk="0" hangingPunct="1">
        <a:lnSpc>
          <a:spcPct val="100000"/>
        </a:lnSpc>
        <a:spcBef>
          <a:spcPts val="300"/>
        </a:spcBef>
        <a:spcAft>
          <a:spcPts val="0"/>
        </a:spcAft>
        <a:buClr>
          <a:schemeClr val="accent1"/>
        </a:buClr>
        <a:buSzPct val="100000"/>
        <a:buFont typeface="Arial" panose="02080604020202020204" pitchFamily="34" charset="0"/>
        <a:buChar char="•"/>
        <a:defRPr sz="1600" kern="1200" spc="0" baseline="0">
          <a:solidFill>
            <a:schemeClr val="tx1"/>
          </a:solidFill>
          <a:latin typeface="+mn-lt"/>
          <a:ea typeface="+mn-ea"/>
          <a:cs typeface="+mn-cs"/>
        </a:defRPr>
      </a:lvl2pPr>
      <a:lvl3pPr marL="657225" marR="0" indent="-200025" algn="l" defTabSz="932815" rtl="0" eaLnBrk="1" fontAlgn="auto" latinLnBrk="0" hangingPunct="1">
        <a:lnSpc>
          <a:spcPct val="100000"/>
        </a:lnSpc>
        <a:spcBef>
          <a:spcPts val="300"/>
        </a:spcBef>
        <a:spcAft>
          <a:spcPts val="0"/>
        </a:spcAft>
        <a:buClr>
          <a:schemeClr val="accent1"/>
        </a:buClr>
        <a:buSzPct val="100000"/>
        <a:buFont typeface="Arial" panose="02080604020202020204" pitchFamily="34" charset="0"/>
        <a:buChar char="•"/>
        <a:defRPr sz="1200" kern="1200" spc="0" baseline="0">
          <a:solidFill>
            <a:schemeClr val="tx1"/>
          </a:solidFill>
          <a:latin typeface="+mn-lt"/>
          <a:ea typeface="+mn-ea"/>
          <a:cs typeface="+mn-cs"/>
        </a:defRPr>
      </a:lvl3pPr>
      <a:lvl4pPr marL="843280" marR="0" indent="-180975" algn="l" defTabSz="932815" rtl="0" eaLnBrk="1" fontAlgn="auto" latinLnBrk="0" hangingPunct="1">
        <a:lnSpc>
          <a:spcPct val="100000"/>
        </a:lnSpc>
        <a:spcBef>
          <a:spcPts val="300"/>
        </a:spcBef>
        <a:spcAft>
          <a:spcPts val="0"/>
        </a:spcAft>
        <a:buClr>
          <a:schemeClr val="accent1"/>
        </a:buClr>
        <a:buSzPct val="100000"/>
        <a:buFont typeface="Arial" panose="02080604020202020204" pitchFamily="34" charset="0"/>
        <a:buChar char="•"/>
        <a:defRPr sz="1100" kern="1200" spc="0" baseline="0">
          <a:solidFill>
            <a:schemeClr val="tx1"/>
          </a:solidFill>
          <a:latin typeface="+mn-lt"/>
          <a:ea typeface="+mn-ea"/>
          <a:cs typeface="+mn-cs"/>
        </a:defRPr>
      </a:lvl4pPr>
      <a:lvl5pPr marL="1024255" marR="0" indent="-168275" algn="l" defTabSz="932815" rtl="0" eaLnBrk="1" fontAlgn="auto" latinLnBrk="0" hangingPunct="1">
        <a:lnSpc>
          <a:spcPct val="100000"/>
        </a:lnSpc>
        <a:spcBef>
          <a:spcPts val="300"/>
        </a:spcBef>
        <a:spcAft>
          <a:spcPts val="0"/>
        </a:spcAft>
        <a:buClr>
          <a:schemeClr val="accent1"/>
        </a:buClr>
        <a:buSzPct val="100000"/>
        <a:buFont typeface="Arial" panose="02080604020202020204" pitchFamily="34" charset="0"/>
        <a:buChar char="•"/>
        <a:defRPr sz="1100" kern="1200" spc="0" baseline="0">
          <a:solidFill>
            <a:schemeClr val="tx1"/>
          </a:solidFill>
          <a:latin typeface="+mn-lt"/>
          <a:ea typeface="+mn-ea"/>
          <a:cs typeface="+mn-cs"/>
        </a:defRPr>
      </a:lvl5pPr>
      <a:lvl6pPr marL="2564765" indent="-233045" algn="l" defTabSz="932815"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package" Target="../embeddings/Microsoft_Excel_Worksheet.xlsx"/><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1.xlsx"/><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2.xlsx"/><Relationship Id="rId1" Type="http://schemas.openxmlformats.org/officeDocument/2006/relationships/slideLayout" Target="../slideLayouts/slideLayout16.xml"/><Relationship Id="rId4" Type="http://schemas.openxmlformats.org/officeDocument/2006/relationships/hyperlink" Target="https://en.wikipedia.org/wiki/Algorithms_for_calculating_variance?section=5#Parallel_algorith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Excel_Worksheet3.xlsx"/><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963737" y="1843486"/>
            <a:ext cx="6046491" cy="1941576"/>
          </a:xfrm>
        </p:spPr>
        <p:txBody>
          <a:bodyPr/>
          <a:lstStyle/>
          <a:p>
            <a:r>
              <a:rPr lang="en-US" sz="2800" dirty="0" err="1">
                <a:solidFill>
                  <a:schemeClr val="bg1"/>
                </a:solidFill>
                <a:cs typeface="Segoe UI" panose="020B0502040204020203"/>
              </a:rPr>
              <a:t>Heyi</a:t>
            </a:r>
            <a:r>
              <a:rPr lang="en-US" sz="2800" dirty="0">
                <a:solidFill>
                  <a:schemeClr val="bg1"/>
                </a:solidFill>
                <a:cs typeface="Segoe UI" panose="020B0502040204020203"/>
              </a:rPr>
              <a:t> LayerNorm Optimization</a:t>
            </a:r>
          </a:p>
        </p:txBody>
      </p:sp>
      <p:sp>
        <p:nvSpPr>
          <p:cNvPr id="6" name="Text Placeholder 5"/>
          <p:cNvSpPr>
            <a:spLocks noGrp="1"/>
          </p:cNvSpPr>
          <p:nvPr>
            <p:ph type="body" sz="quarter" idx="12"/>
          </p:nvPr>
        </p:nvSpPr>
        <p:spPr>
          <a:xfrm>
            <a:off x="5963737" y="4391039"/>
            <a:ext cx="4525262" cy="250903"/>
          </a:xfrm>
        </p:spPr>
        <p:txBody>
          <a:bodyPr/>
          <a:lstStyle/>
          <a:p>
            <a:r>
              <a:rPr lang="en-US" dirty="0">
                <a:solidFill>
                  <a:schemeClr val="bg1"/>
                </a:solidFill>
              </a:rPr>
              <a:t>AIG AIM</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5B66F-A09D-CC0B-D6DD-6432E6BBD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65D68-F15C-2D68-567B-BCF22041EF46}"/>
              </a:ext>
            </a:extLst>
          </p:cNvPr>
          <p:cNvSpPr>
            <a:spLocks noGrp="1"/>
          </p:cNvSpPr>
          <p:nvPr>
            <p:ph type="title"/>
          </p:nvPr>
        </p:nvSpPr>
        <p:spPr>
          <a:xfrm>
            <a:off x="4090415" y="2786350"/>
            <a:ext cx="5675377" cy="430887"/>
          </a:xfrm>
        </p:spPr>
        <p:txBody>
          <a:bodyPr/>
          <a:lstStyle/>
          <a:p>
            <a:r>
              <a:rPr lang="en-US" dirty="0"/>
              <a:t>PR Version Summary</a:t>
            </a:r>
          </a:p>
        </p:txBody>
      </p:sp>
    </p:spTree>
    <p:extLst>
      <p:ext uri="{BB962C8B-B14F-4D97-AF65-F5344CB8AC3E}">
        <p14:creationId xmlns:p14="http://schemas.microsoft.com/office/powerpoint/2010/main" val="145345417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16FD4-17C7-322B-0344-854ED97A4E6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8BF16F2-70C9-369C-909C-E85175A65C23}"/>
              </a:ext>
            </a:extLst>
          </p:cNvPr>
          <p:cNvSpPr txBox="1"/>
          <p:nvPr/>
        </p:nvSpPr>
        <p:spPr bwMode="auto">
          <a:xfrm>
            <a:off x="0" y="0"/>
            <a:ext cx="12192000" cy="718820"/>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hangingPunct="1"/>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TE-</a:t>
            </a:r>
            <a:r>
              <a:rPr lang="en-US" altLang="zh-CN" sz="3600" dirty="0" err="1">
                <a:solidFill>
                  <a:srgbClr val="FF800D"/>
                </a:solidFill>
                <a:latin typeface="微软雅黑" panose="020B0503020204020204" pitchFamily="34" charset="-122"/>
                <a:ea typeface="微软雅黑" panose="020B0503020204020204" pitchFamily="34" charset="-122"/>
                <a:cs typeface="Arial" panose="020B0604020202020204" pitchFamily="34" charset="0"/>
              </a:rPr>
              <a:t>LayerNorm</a:t>
            </a:r>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 Perf Summary</a:t>
            </a:r>
          </a:p>
        </p:txBody>
      </p:sp>
      <p:graphicFrame>
        <p:nvGraphicFramePr>
          <p:cNvPr id="3" name="Object 2">
            <a:extLst>
              <a:ext uri="{FF2B5EF4-FFF2-40B4-BE49-F238E27FC236}">
                <a16:creationId xmlns:a16="http://schemas.microsoft.com/office/drawing/2014/main" id="{9936124E-B071-E315-2FE7-F1A93EFB729E}"/>
              </a:ext>
            </a:extLst>
          </p:cNvPr>
          <p:cNvGraphicFramePr>
            <a:graphicFrameLocks noChangeAspect="1"/>
          </p:cNvGraphicFramePr>
          <p:nvPr>
            <p:extLst>
              <p:ext uri="{D42A27DB-BD31-4B8C-83A1-F6EECF244321}">
                <p14:modId xmlns:p14="http://schemas.microsoft.com/office/powerpoint/2010/main" val="382065301"/>
              </p:ext>
            </p:extLst>
          </p:nvPr>
        </p:nvGraphicFramePr>
        <p:xfrm>
          <a:off x="657225" y="2155825"/>
          <a:ext cx="10674350" cy="3549650"/>
        </p:xfrm>
        <a:graphic>
          <a:graphicData uri="http://schemas.openxmlformats.org/presentationml/2006/ole">
            <mc:AlternateContent xmlns:mc="http://schemas.openxmlformats.org/markup-compatibility/2006">
              <mc:Choice xmlns:v="urn:schemas-microsoft-com:vml" Requires="v">
                <p:oleObj name="Worksheet" r:id="rId2" imgW="8324989" imgH="2768735" progId="Excel.Sheet.12">
                  <p:embed/>
                </p:oleObj>
              </mc:Choice>
              <mc:Fallback>
                <p:oleObj name="Worksheet" r:id="rId2" imgW="8324989" imgH="2768735" progId="Excel.Sheet.12">
                  <p:embed/>
                  <p:pic>
                    <p:nvPicPr>
                      <p:cNvPr id="3" name="Object 2">
                        <a:extLst>
                          <a:ext uri="{FF2B5EF4-FFF2-40B4-BE49-F238E27FC236}">
                            <a16:creationId xmlns:a16="http://schemas.microsoft.com/office/drawing/2014/main" id="{B59D322A-3898-0AAD-FE24-1AC9BEC3B0E9}"/>
                          </a:ext>
                        </a:extLst>
                      </p:cNvPr>
                      <p:cNvPicPr/>
                      <p:nvPr/>
                    </p:nvPicPr>
                    <p:blipFill>
                      <a:blip r:embed="rId3"/>
                      <a:stretch>
                        <a:fillRect/>
                      </a:stretch>
                    </p:blipFill>
                    <p:spPr>
                      <a:xfrm>
                        <a:off x="657225" y="2155825"/>
                        <a:ext cx="10674350" cy="3549650"/>
                      </a:xfrm>
                      <a:prstGeom prst="rect">
                        <a:avLst/>
                      </a:prstGeom>
                      <a:solidFill>
                        <a:schemeClr val="tx1"/>
                      </a:solidFill>
                    </p:spPr>
                  </p:pic>
                </p:oleObj>
              </mc:Fallback>
            </mc:AlternateContent>
          </a:graphicData>
        </a:graphic>
      </p:graphicFrame>
      <p:sp>
        <p:nvSpPr>
          <p:cNvPr id="4" name="TextBox 3">
            <a:extLst>
              <a:ext uri="{FF2B5EF4-FFF2-40B4-BE49-F238E27FC236}">
                <a16:creationId xmlns:a16="http://schemas.microsoft.com/office/drawing/2014/main" id="{A609CCC4-EF8B-4877-DF56-010AA97BDDDB}"/>
              </a:ext>
            </a:extLst>
          </p:cNvPr>
          <p:cNvSpPr txBox="1"/>
          <p:nvPr/>
        </p:nvSpPr>
        <p:spPr>
          <a:xfrm>
            <a:off x="325438" y="718820"/>
            <a:ext cx="11510962" cy="1200329"/>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PingFang SC"/>
              </a:rPr>
              <a:t>Fundamentally improve performance across different shapes, achieving performance improvements in both forward and backward </a:t>
            </a:r>
            <a:r>
              <a:rPr lang="en-US" altLang="zh-CN" b="0" i="0" dirty="0">
                <a:effectLst/>
                <a:latin typeface="PingFang SC"/>
              </a:rPr>
              <a:t>phase</a:t>
            </a:r>
            <a:r>
              <a:rPr lang="en-US" b="0" i="0" dirty="0">
                <a:effectLst/>
                <a:latin typeface="PingFang SC"/>
              </a:rPr>
              <a:t>.</a:t>
            </a:r>
          </a:p>
          <a:p>
            <a:pPr marL="285750" indent="-285750">
              <a:buFont typeface="Arial" panose="020B0604020202020204" pitchFamily="34" charset="0"/>
              <a:buChar char="•"/>
            </a:pPr>
            <a:r>
              <a:rPr lang="en-US" b="0" i="0" dirty="0" err="1">
                <a:effectLst/>
                <a:latin typeface="PingFang SC"/>
              </a:rPr>
              <a:t>Fwd</a:t>
            </a:r>
            <a:r>
              <a:rPr lang="en-US" b="0" i="0" dirty="0">
                <a:effectLst/>
                <a:latin typeface="PingFang SC"/>
              </a:rPr>
              <a:t>: achieve 1.0~5.6x performance boost against hip kernel on MI300X, 0.8~1.5x </a:t>
            </a:r>
            <a:r>
              <a:rPr lang="en-US" dirty="0">
                <a:latin typeface="PingFang SC"/>
              </a:rPr>
              <a:t>performance boost </a:t>
            </a:r>
            <a:r>
              <a:rPr lang="en-US" b="0" i="0" dirty="0">
                <a:effectLst/>
                <a:latin typeface="PingFang SC"/>
              </a:rPr>
              <a:t>against H100;</a:t>
            </a:r>
          </a:p>
          <a:p>
            <a:pPr marL="285750" indent="-285750">
              <a:buFont typeface="Arial" panose="020B0604020202020204" pitchFamily="34" charset="0"/>
              <a:buChar char="•"/>
            </a:pPr>
            <a:r>
              <a:rPr lang="en-US" b="0" i="0" dirty="0" err="1">
                <a:effectLst/>
                <a:latin typeface="PingFang SC"/>
              </a:rPr>
              <a:t>Bwd</a:t>
            </a:r>
            <a:r>
              <a:rPr lang="en-US" b="0" i="0" dirty="0">
                <a:effectLst/>
                <a:latin typeface="PingFang SC"/>
              </a:rPr>
              <a:t>: achieve 1.0~5.3x performance boost against hip kernel on MI300X, 0.66~1.5x </a:t>
            </a:r>
            <a:r>
              <a:rPr lang="en-US" dirty="0">
                <a:latin typeface="PingFang SC"/>
              </a:rPr>
              <a:t>performance boost </a:t>
            </a:r>
            <a:r>
              <a:rPr lang="en-US" b="0" i="0" dirty="0">
                <a:effectLst/>
                <a:latin typeface="PingFang SC"/>
              </a:rPr>
              <a:t>against H100;</a:t>
            </a:r>
          </a:p>
        </p:txBody>
      </p:sp>
    </p:spTree>
    <p:extLst>
      <p:ext uri="{BB962C8B-B14F-4D97-AF65-F5344CB8AC3E}">
        <p14:creationId xmlns:p14="http://schemas.microsoft.com/office/powerpoint/2010/main" val="313344825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2159E-DD80-887C-03EB-9A72BC35E7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2CA51B-AA39-D27E-AE7C-B246090B0E39}"/>
              </a:ext>
            </a:extLst>
          </p:cNvPr>
          <p:cNvSpPr txBox="1"/>
          <p:nvPr/>
        </p:nvSpPr>
        <p:spPr bwMode="auto">
          <a:xfrm>
            <a:off x="0" y="0"/>
            <a:ext cx="12192000" cy="718820"/>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hangingPunct="1"/>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TE-</a:t>
            </a:r>
            <a:r>
              <a:rPr lang="en-US" altLang="zh-CN" sz="3600" dirty="0" err="1">
                <a:solidFill>
                  <a:srgbClr val="FF800D"/>
                </a:solidFill>
                <a:latin typeface="微软雅黑" panose="020B0503020204020204" pitchFamily="34" charset="-122"/>
                <a:ea typeface="微软雅黑" panose="020B0503020204020204" pitchFamily="34" charset="-122"/>
                <a:cs typeface="Arial" panose="020B0604020202020204" pitchFamily="34" charset="0"/>
              </a:rPr>
              <a:t>LayerNorm</a:t>
            </a:r>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 Perf Summary</a:t>
            </a:r>
          </a:p>
        </p:txBody>
      </p:sp>
      <p:graphicFrame>
        <p:nvGraphicFramePr>
          <p:cNvPr id="3" name="Object 2">
            <a:extLst>
              <a:ext uri="{FF2B5EF4-FFF2-40B4-BE49-F238E27FC236}">
                <a16:creationId xmlns:a16="http://schemas.microsoft.com/office/drawing/2014/main" id="{2527FD85-5354-D39B-2787-4A556E417815}"/>
              </a:ext>
            </a:extLst>
          </p:cNvPr>
          <p:cNvGraphicFramePr>
            <a:graphicFrameLocks noChangeAspect="1"/>
          </p:cNvGraphicFramePr>
          <p:nvPr>
            <p:extLst>
              <p:ext uri="{D42A27DB-BD31-4B8C-83A1-F6EECF244321}">
                <p14:modId xmlns:p14="http://schemas.microsoft.com/office/powerpoint/2010/main" val="1526715401"/>
              </p:ext>
            </p:extLst>
          </p:nvPr>
        </p:nvGraphicFramePr>
        <p:xfrm>
          <a:off x="601663" y="820738"/>
          <a:ext cx="10920412" cy="3632200"/>
        </p:xfrm>
        <a:graphic>
          <a:graphicData uri="http://schemas.openxmlformats.org/presentationml/2006/ole">
            <mc:AlternateContent xmlns:mc="http://schemas.openxmlformats.org/markup-compatibility/2006">
              <mc:Choice xmlns:v="urn:schemas-microsoft-com:vml" Requires="v">
                <p:oleObj name="Worksheet" r:id="rId2" imgW="8515363" imgH="2831965" progId="Excel.Sheet.12">
                  <p:embed/>
                </p:oleObj>
              </mc:Choice>
              <mc:Fallback>
                <p:oleObj name="Worksheet" r:id="rId2" imgW="8515363" imgH="2831965" progId="Excel.Sheet.12">
                  <p:embed/>
                  <p:pic>
                    <p:nvPicPr>
                      <p:cNvPr id="3" name="Object 2">
                        <a:extLst>
                          <a:ext uri="{FF2B5EF4-FFF2-40B4-BE49-F238E27FC236}">
                            <a16:creationId xmlns:a16="http://schemas.microsoft.com/office/drawing/2014/main" id="{9936124E-B071-E315-2FE7-F1A93EFB729E}"/>
                          </a:ext>
                        </a:extLst>
                      </p:cNvPr>
                      <p:cNvPicPr/>
                      <p:nvPr/>
                    </p:nvPicPr>
                    <p:blipFill>
                      <a:blip r:embed="rId3"/>
                      <a:stretch>
                        <a:fillRect/>
                      </a:stretch>
                    </p:blipFill>
                    <p:spPr>
                      <a:xfrm>
                        <a:off x="601663" y="820738"/>
                        <a:ext cx="10920412" cy="3632200"/>
                      </a:xfrm>
                      <a:prstGeom prst="rect">
                        <a:avLst/>
                      </a:prstGeom>
                      <a:solidFill>
                        <a:schemeClr val="tx1"/>
                      </a:solidFill>
                    </p:spPr>
                  </p:pic>
                </p:oleObj>
              </mc:Fallback>
            </mc:AlternateContent>
          </a:graphicData>
        </a:graphic>
      </p:graphicFrame>
      <p:sp>
        <p:nvSpPr>
          <p:cNvPr id="5" name="Rectangle 4">
            <a:extLst>
              <a:ext uri="{FF2B5EF4-FFF2-40B4-BE49-F238E27FC236}">
                <a16:creationId xmlns:a16="http://schemas.microsoft.com/office/drawing/2014/main" id="{D09A4BE4-C9E3-0394-6402-D20187DC7E46}"/>
              </a:ext>
            </a:extLst>
          </p:cNvPr>
          <p:cNvSpPr/>
          <p:nvPr/>
        </p:nvSpPr>
        <p:spPr bwMode="auto">
          <a:xfrm>
            <a:off x="745838" y="1508760"/>
            <a:ext cx="10318401" cy="1356296"/>
          </a:xfrm>
          <a:prstGeom prst="rect">
            <a:avLst/>
          </a:prstGeom>
          <a:noFill/>
          <a:ln w="28575">
            <a:solidFill>
              <a:schemeClr val="accent5"/>
            </a:solidFill>
            <a:prstDash val="dash"/>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18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13" name="Rectangle 12">
            <a:extLst>
              <a:ext uri="{FF2B5EF4-FFF2-40B4-BE49-F238E27FC236}">
                <a16:creationId xmlns:a16="http://schemas.microsoft.com/office/drawing/2014/main" id="{8E59194F-0193-85B8-8EFA-FA7270DD5C31}"/>
              </a:ext>
            </a:extLst>
          </p:cNvPr>
          <p:cNvSpPr/>
          <p:nvPr/>
        </p:nvSpPr>
        <p:spPr bwMode="auto">
          <a:xfrm>
            <a:off x="602361" y="4789806"/>
            <a:ext cx="5880735" cy="1629282"/>
          </a:xfrm>
          <a:prstGeom prst="rect">
            <a:avLst/>
          </a:prstGeom>
          <a:noFill/>
          <a:ln w="28575">
            <a:solidFill>
              <a:schemeClr val="accent5"/>
            </a:solidFill>
            <a:prstDash val="dash"/>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defTabSz="932180" fontAlgn="base">
              <a:spcBef>
                <a:spcPct val="0"/>
              </a:spcBef>
              <a:spcAft>
                <a:spcPct val="0"/>
              </a:spcAft>
            </a:pPr>
            <a:r>
              <a:rPr lang="en-US" sz="16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rPr>
              <a:t>Tuned branch:</a:t>
            </a:r>
            <a:br>
              <a:rPr lang="en-US" sz="16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rPr>
            </a:br>
            <a:r>
              <a:rPr lang="en-US" sz="1600" dirty="0"/>
              <a:t>Perform an exhaustive traversal of all possible parameter combinations for a specific hidden size offline. </a:t>
            </a:r>
            <a:r>
              <a:rPr lang="en-US" sz="1600" b="1" dirty="0"/>
              <a:t>This part need update to sync with online tuning strategy and summit a PR</a:t>
            </a:r>
            <a:r>
              <a:rPr lang="en-US" sz="1600" dirty="0"/>
              <a:t>.</a:t>
            </a:r>
          </a:p>
        </p:txBody>
      </p:sp>
      <p:sp>
        <p:nvSpPr>
          <p:cNvPr id="14" name="Arrow: Down 13">
            <a:extLst>
              <a:ext uri="{FF2B5EF4-FFF2-40B4-BE49-F238E27FC236}">
                <a16:creationId xmlns:a16="http://schemas.microsoft.com/office/drawing/2014/main" id="{449BA274-C776-2E84-EF5F-B563513610EE}"/>
              </a:ext>
            </a:extLst>
          </p:cNvPr>
          <p:cNvSpPr/>
          <p:nvPr/>
        </p:nvSpPr>
        <p:spPr bwMode="auto">
          <a:xfrm>
            <a:off x="1197864" y="2865056"/>
            <a:ext cx="329184" cy="1770952"/>
          </a:xfrm>
          <a:prstGeom prst="downArrow">
            <a:avLst/>
          </a:prstGeom>
          <a:gradFill flip="none" rotWithShape="1">
            <a:gsLst>
              <a:gs pos="0">
                <a:schemeClr val="accent5">
                  <a:tint val="66000"/>
                  <a:satMod val="160000"/>
                </a:schemeClr>
              </a:gs>
              <a:gs pos="50000">
                <a:schemeClr val="accent5">
                  <a:tint val="44500"/>
                  <a:satMod val="160000"/>
                </a:schemeClr>
              </a:gs>
              <a:gs pos="100000">
                <a:schemeClr val="accent5">
                  <a:tint val="23500"/>
                  <a:satMod val="160000"/>
                </a:schemeClr>
              </a:gs>
            </a:gsLst>
            <a:lin ang="13500000" scaled="1"/>
            <a:tileRect/>
          </a:gradFill>
          <a:ln w="28575">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18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15" name="Rectangle 14">
            <a:extLst>
              <a:ext uri="{FF2B5EF4-FFF2-40B4-BE49-F238E27FC236}">
                <a16:creationId xmlns:a16="http://schemas.microsoft.com/office/drawing/2014/main" id="{B414827A-2F14-72DE-1589-8979F94E791F}"/>
              </a:ext>
            </a:extLst>
          </p:cNvPr>
          <p:cNvSpPr/>
          <p:nvPr/>
        </p:nvSpPr>
        <p:spPr bwMode="auto">
          <a:xfrm>
            <a:off x="745839" y="2966975"/>
            <a:ext cx="10318400" cy="1149286"/>
          </a:xfrm>
          <a:prstGeom prst="rect">
            <a:avLst/>
          </a:prstGeom>
          <a:noFill/>
          <a:ln w="28575">
            <a:solidFill>
              <a:srgbClr val="00B050"/>
            </a:solidFill>
            <a:prstDash val="dash"/>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18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16" name="Arrow: Down 15">
            <a:extLst>
              <a:ext uri="{FF2B5EF4-FFF2-40B4-BE49-F238E27FC236}">
                <a16:creationId xmlns:a16="http://schemas.microsoft.com/office/drawing/2014/main" id="{0EDEE78C-9302-ADD9-630B-3506968AE8F5}"/>
              </a:ext>
            </a:extLst>
          </p:cNvPr>
          <p:cNvSpPr/>
          <p:nvPr/>
        </p:nvSpPr>
        <p:spPr bwMode="auto">
          <a:xfrm>
            <a:off x="9451848" y="4116261"/>
            <a:ext cx="329184" cy="717741"/>
          </a:xfrm>
          <a:prstGeom prst="downArrow">
            <a:avLst/>
          </a:prstGeom>
          <a:solidFill>
            <a:srgbClr val="92D050"/>
          </a:solidFill>
          <a:ln w="28575">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1800" dirty="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17" name="Rectangle 16">
            <a:extLst>
              <a:ext uri="{FF2B5EF4-FFF2-40B4-BE49-F238E27FC236}">
                <a16:creationId xmlns:a16="http://schemas.microsoft.com/office/drawing/2014/main" id="{C10023DC-925C-5DC1-1972-B96349407B82}"/>
              </a:ext>
            </a:extLst>
          </p:cNvPr>
          <p:cNvSpPr/>
          <p:nvPr/>
        </p:nvSpPr>
        <p:spPr bwMode="auto">
          <a:xfrm>
            <a:off x="6773609" y="4834001"/>
            <a:ext cx="4702112" cy="1585087"/>
          </a:xfrm>
          <a:prstGeom prst="rect">
            <a:avLst/>
          </a:prstGeom>
          <a:noFill/>
          <a:ln w="28575">
            <a:solidFill>
              <a:srgbClr val="00B050"/>
            </a:solidFill>
            <a:prstDash val="dash"/>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defTabSz="932180" fontAlgn="base">
              <a:spcBef>
                <a:spcPct val="0"/>
              </a:spcBef>
              <a:spcAft>
                <a:spcPct val="0"/>
              </a:spcAft>
            </a:pPr>
            <a:r>
              <a:rPr lang="en-US" sz="16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rPr>
              <a:t>General branch:</a:t>
            </a:r>
            <a:br>
              <a:rPr lang="en-US" sz="16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rPr>
            </a:br>
            <a:r>
              <a:rPr lang="en-US" sz="1600" dirty="0"/>
              <a:t>Performance improvement relies on algorithm optimization. The forward and backward passes use different optimization methods.</a:t>
            </a:r>
          </a:p>
          <a:p>
            <a:pPr defTabSz="932180" fontAlgn="base">
              <a:spcBef>
                <a:spcPct val="0"/>
              </a:spcBef>
              <a:spcAft>
                <a:spcPct val="0"/>
              </a:spcAft>
            </a:pPr>
            <a:r>
              <a:rPr lang="en-US" sz="1800" dirty="0">
                <a:gradFill>
                  <a:gsLst>
                    <a:gs pos="0">
                      <a:srgbClr val="FFFFFF"/>
                    </a:gs>
                    <a:gs pos="100000">
                      <a:srgbClr val="FFFFFF"/>
                    </a:gs>
                  </a:gsLst>
                  <a:lin ang="5400000" scaled="0"/>
                </a:gradFill>
                <a:ea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419880427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88B25-177E-87E7-6B2D-FB40AAA93947}"/>
            </a:ext>
          </a:extLst>
        </p:cNvPr>
        <p:cNvGrpSpPr/>
        <p:nvPr/>
      </p:nvGrpSpPr>
      <p:grpSpPr>
        <a:xfrm>
          <a:off x="0" y="0"/>
          <a:ext cx="0" cy="0"/>
          <a:chOff x="0" y="0"/>
          <a:chExt cx="0" cy="0"/>
        </a:xfrm>
      </p:grpSpPr>
      <p:graphicFrame>
        <p:nvGraphicFramePr>
          <p:cNvPr id="6" name="Object 5">
            <a:extLst>
              <a:ext uri="{FF2B5EF4-FFF2-40B4-BE49-F238E27FC236}">
                <a16:creationId xmlns:a16="http://schemas.microsoft.com/office/drawing/2014/main" id="{7A28FABE-B70F-53FD-6574-284ED6EA8700}"/>
              </a:ext>
            </a:extLst>
          </p:cNvPr>
          <p:cNvGraphicFramePr>
            <a:graphicFrameLocks noChangeAspect="1"/>
          </p:cNvGraphicFramePr>
          <p:nvPr>
            <p:extLst>
              <p:ext uri="{D42A27DB-BD31-4B8C-83A1-F6EECF244321}">
                <p14:modId xmlns:p14="http://schemas.microsoft.com/office/powerpoint/2010/main" val="2337296782"/>
              </p:ext>
            </p:extLst>
          </p:nvPr>
        </p:nvGraphicFramePr>
        <p:xfrm>
          <a:off x="628746" y="1187260"/>
          <a:ext cx="10077386" cy="1895475"/>
        </p:xfrm>
        <a:graphic>
          <a:graphicData uri="http://schemas.openxmlformats.org/presentationml/2006/ole">
            <mc:AlternateContent xmlns:mc="http://schemas.openxmlformats.org/markup-compatibility/2006">
              <mc:Choice xmlns:v="urn:schemas-microsoft-com:vml" Requires="v">
                <p:oleObj name="Worksheet" r:id="rId2" imgW="6978604" imgH="1479415" progId="Excel.Sheet.12">
                  <p:embed/>
                </p:oleObj>
              </mc:Choice>
              <mc:Fallback>
                <p:oleObj name="Worksheet" r:id="rId2" imgW="6978604" imgH="1479415" progId="Excel.Sheet.12">
                  <p:embed/>
                  <p:pic>
                    <p:nvPicPr>
                      <p:cNvPr id="3" name="Object 2">
                        <a:extLst>
                          <a:ext uri="{FF2B5EF4-FFF2-40B4-BE49-F238E27FC236}">
                            <a16:creationId xmlns:a16="http://schemas.microsoft.com/office/drawing/2014/main" id="{9936124E-B071-E315-2FE7-F1A93EFB729E}"/>
                          </a:ext>
                        </a:extLst>
                      </p:cNvPr>
                      <p:cNvPicPr/>
                      <p:nvPr/>
                    </p:nvPicPr>
                    <p:blipFill>
                      <a:blip r:embed="rId3"/>
                      <a:stretch>
                        <a:fillRect/>
                      </a:stretch>
                    </p:blipFill>
                    <p:spPr>
                      <a:xfrm>
                        <a:off x="628746" y="1187260"/>
                        <a:ext cx="10077386" cy="1895475"/>
                      </a:xfrm>
                      <a:prstGeom prst="rect">
                        <a:avLst/>
                      </a:prstGeom>
                      <a:solidFill>
                        <a:schemeClr val="tx1"/>
                      </a:solidFill>
                    </p:spPr>
                  </p:pic>
                </p:oleObj>
              </mc:Fallback>
            </mc:AlternateContent>
          </a:graphicData>
        </a:graphic>
      </p:graphicFrame>
      <p:sp>
        <p:nvSpPr>
          <p:cNvPr id="7" name="标题 1">
            <a:extLst>
              <a:ext uri="{FF2B5EF4-FFF2-40B4-BE49-F238E27FC236}">
                <a16:creationId xmlns:a16="http://schemas.microsoft.com/office/drawing/2014/main" id="{E7E772D5-5A82-0596-195C-840BCBE7C6E6}"/>
              </a:ext>
            </a:extLst>
          </p:cNvPr>
          <p:cNvSpPr txBox="1"/>
          <p:nvPr/>
        </p:nvSpPr>
        <p:spPr bwMode="auto">
          <a:xfrm>
            <a:off x="0" y="0"/>
            <a:ext cx="12192000" cy="718820"/>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hangingPunct="1"/>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TE-</a:t>
            </a:r>
            <a:r>
              <a:rPr lang="en-US" altLang="zh-CN" sz="3600" dirty="0" err="1">
                <a:solidFill>
                  <a:srgbClr val="FF800D"/>
                </a:solidFill>
                <a:latin typeface="微软雅黑" panose="020B0503020204020204" pitchFamily="34" charset="-122"/>
                <a:ea typeface="微软雅黑" panose="020B0503020204020204" pitchFamily="34" charset="-122"/>
                <a:cs typeface="Arial" panose="020B0604020202020204" pitchFamily="34" charset="0"/>
              </a:rPr>
              <a:t>LayerNorm</a:t>
            </a:r>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 General-Forward-Phase </a:t>
            </a:r>
          </a:p>
        </p:txBody>
      </p:sp>
      <p:sp>
        <p:nvSpPr>
          <p:cNvPr id="9" name="TextBox 8">
            <a:extLst>
              <a:ext uri="{FF2B5EF4-FFF2-40B4-BE49-F238E27FC236}">
                <a16:creationId xmlns:a16="http://schemas.microsoft.com/office/drawing/2014/main" id="{4FB65F3D-0DB6-D282-51DA-3AD77C9726C4}"/>
              </a:ext>
            </a:extLst>
          </p:cNvPr>
          <p:cNvSpPr txBox="1"/>
          <p:nvPr/>
        </p:nvSpPr>
        <p:spPr>
          <a:xfrm>
            <a:off x="566230" y="3220688"/>
            <a:ext cx="10470578" cy="3077766"/>
          </a:xfrm>
          <a:prstGeom prst="rect">
            <a:avLst/>
          </a:prstGeom>
          <a:noFill/>
        </p:spPr>
        <p:txBody>
          <a:bodyPr wrap="square">
            <a:spAutoFit/>
          </a:bodyPr>
          <a:lstStyle/>
          <a:p>
            <a:r>
              <a:rPr lang="en-US" sz="1800" dirty="0" err="1"/>
              <a:t>KeyPoint</a:t>
            </a:r>
            <a:r>
              <a:rPr lang="en-US" sz="1800" dirty="0"/>
              <a:t>:</a:t>
            </a:r>
          </a:p>
          <a:p>
            <a:r>
              <a:rPr lang="en-US" sz="1800" dirty="0"/>
              <a:t>Changed from first calculating the mean then calculating the variance to obtaining both mean and variance in a single pass</a:t>
            </a:r>
            <a:r>
              <a:rPr lang="en-US" dirty="0"/>
              <a:t> based on Welford algorithm.</a:t>
            </a:r>
          </a:p>
          <a:p>
            <a:r>
              <a:rPr lang="en-US" sz="1600" dirty="0"/>
              <a:t>An introduction of </a:t>
            </a:r>
            <a:r>
              <a:rPr lang="en-US" sz="1600" dirty="0" err="1"/>
              <a:t>welford</a:t>
            </a:r>
            <a:r>
              <a:rPr lang="en-US" sz="1600" dirty="0"/>
              <a:t> algorithm is provided by Wikipedia here:</a:t>
            </a:r>
          </a:p>
          <a:p>
            <a:r>
              <a:rPr lang="en-US" sz="1600" dirty="0">
                <a:hlinkClick r:id="rId4"/>
              </a:rPr>
              <a:t>https://en.wikipedia.org/wiki/Algorithms_for_calculating_variance?section=5#Parallel_algorithm</a:t>
            </a:r>
            <a:endParaRPr lang="en-US" sz="1600" dirty="0"/>
          </a:p>
          <a:p>
            <a:endParaRPr lang="en-US" sz="1800" dirty="0"/>
          </a:p>
          <a:p>
            <a:pPr marL="285750" indent="-285750">
              <a:buFont typeface="Wingdings" panose="05000000000000000000" pitchFamily="2" charset="2"/>
              <a:buChar char="Ø"/>
            </a:pPr>
            <a:r>
              <a:rPr lang="en-US" dirty="0"/>
              <a:t>Added a </a:t>
            </a:r>
            <a:r>
              <a:rPr lang="en-US" dirty="0" err="1"/>
              <a:t>Stats_ge</a:t>
            </a:r>
            <a:r>
              <a:rPr lang="en-US" dirty="0"/>
              <a:t> struct in utils.cu.</a:t>
            </a:r>
          </a:p>
          <a:p>
            <a:pPr marL="285750" indent="-285750">
              <a:buFont typeface="Wingdings" panose="05000000000000000000" pitchFamily="2" charset="2"/>
              <a:buChar char="Ø"/>
            </a:pPr>
            <a:r>
              <a:rPr lang="en-US" dirty="0"/>
              <a:t>Extended the </a:t>
            </a:r>
            <a:r>
              <a:rPr lang="en-US" dirty="0" err="1"/>
              <a:t>kernel_traits</a:t>
            </a:r>
            <a:r>
              <a:rPr lang="en-US" dirty="0"/>
              <a:t> class with an additional template parameter (defaulting to the Stats struct used by the tuned kernel).</a:t>
            </a:r>
          </a:p>
          <a:p>
            <a:pPr marL="285750" indent="-285750">
              <a:buFont typeface="Wingdings" panose="05000000000000000000" pitchFamily="2" charset="2"/>
              <a:buChar char="Ø"/>
            </a:pPr>
            <a:r>
              <a:rPr lang="en-US" dirty="0"/>
              <a:t>Modified kernel launches for the general case to explicitly specify the </a:t>
            </a:r>
            <a:r>
              <a:rPr lang="en-US" dirty="0" err="1"/>
              <a:t>kernel_traits</a:t>
            </a:r>
            <a:r>
              <a:rPr lang="en-US" dirty="0"/>
              <a:t> parameter.</a:t>
            </a:r>
          </a:p>
          <a:p>
            <a:pPr marL="285750" indent="-285750">
              <a:buFont typeface="Wingdings" panose="05000000000000000000" pitchFamily="2" charset="2"/>
              <a:buChar char="Ø"/>
            </a:pPr>
            <a:endParaRPr lang="en-US" sz="1800" dirty="0"/>
          </a:p>
        </p:txBody>
      </p:sp>
      <p:sp>
        <p:nvSpPr>
          <p:cNvPr id="11" name="TextBox 10">
            <a:extLst>
              <a:ext uri="{FF2B5EF4-FFF2-40B4-BE49-F238E27FC236}">
                <a16:creationId xmlns:a16="http://schemas.microsoft.com/office/drawing/2014/main" id="{E8DEA14E-F36D-F6A7-454A-5CD461FA3FD2}"/>
              </a:ext>
            </a:extLst>
          </p:cNvPr>
          <p:cNvSpPr txBox="1"/>
          <p:nvPr/>
        </p:nvSpPr>
        <p:spPr>
          <a:xfrm>
            <a:off x="483934" y="672107"/>
            <a:ext cx="6185916" cy="369332"/>
          </a:xfrm>
          <a:prstGeom prst="rect">
            <a:avLst/>
          </a:prstGeom>
          <a:noFill/>
        </p:spPr>
        <p:txBody>
          <a:bodyPr wrap="square">
            <a:spAutoFit/>
          </a:bodyPr>
          <a:lstStyle/>
          <a:p>
            <a:r>
              <a:rPr lang="en-US" b="1" dirty="0"/>
              <a:t>General forward kernel optimization will summit a PR</a:t>
            </a:r>
            <a:r>
              <a:rPr lang="en-US" sz="1800" b="1" dirty="0"/>
              <a:t>.</a:t>
            </a:r>
            <a:endParaRPr lang="en-US" b="1" dirty="0"/>
          </a:p>
        </p:txBody>
      </p:sp>
    </p:spTree>
    <p:extLst>
      <p:ext uri="{BB962C8B-B14F-4D97-AF65-F5344CB8AC3E}">
        <p14:creationId xmlns:p14="http://schemas.microsoft.com/office/powerpoint/2010/main" val="313986288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8A3FD-A1A0-9526-38D9-52E90F681F41}"/>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3C7B0649-60B6-9FF4-ADBC-6C584BBD1AC2}"/>
              </a:ext>
            </a:extLst>
          </p:cNvPr>
          <p:cNvSpPr txBox="1"/>
          <p:nvPr/>
        </p:nvSpPr>
        <p:spPr bwMode="auto">
          <a:xfrm>
            <a:off x="0" y="0"/>
            <a:ext cx="12192000" cy="718820"/>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hangingPunct="1"/>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TE-</a:t>
            </a:r>
            <a:r>
              <a:rPr lang="en-US" altLang="zh-CN" sz="3600" dirty="0" err="1">
                <a:solidFill>
                  <a:srgbClr val="FF800D"/>
                </a:solidFill>
                <a:latin typeface="微软雅黑" panose="020B0503020204020204" pitchFamily="34" charset="-122"/>
                <a:ea typeface="微软雅黑" panose="020B0503020204020204" pitchFamily="34" charset="-122"/>
                <a:cs typeface="Arial" panose="020B0604020202020204" pitchFamily="34" charset="0"/>
              </a:rPr>
              <a:t>LayerNorm</a:t>
            </a:r>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 General-Forward-Phase </a:t>
            </a:r>
          </a:p>
        </p:txBody>
      </p:sp>
      <p:sp>
        <p:nvSpPr>
          <p:cNvPr id="11" name="TextBox 10">
            <a:extLst>
              <a:ext uri="{FF2B5EF4-FFF2-40B4-BE49-F238E27FC236}">
                <a16:creationId xmlns:a16="http://schemas.microsoft.com/office/drawing/2014/main" id="{ABD1B745-1699-4F73-E2D2-7A374FCE59D2}"/>
              </a:ext>
            </a:extLst>
          </p:cNvPr>
          <p:cNvSpPr txBox="1"/>
          <p:nvPr/>
        </p:nvSpPr>
        <p:spPr>
          <a:xfrm>
            <a:off x="502222" y="779272"/>
            <a:ext cx="7599362" cy="369332"/>
          </a:xfrm>
          <a:prstGeom prst="rect">
            <a:avLst/>
          </a:prstGeom>
          <a:noFill/>
        </p:spPr>
        <p:txBody>
          <a:bodyPr wrap="square">
            <a:spAutoFit/>
          </a:bodyPr>
          <a:lstStyle/>
          <a:p>
            <a:r>
              <a:rPr lang="en-US" sz="1800" b="1" dirty="0"/>
              <a:t>More shapes and types for general forward kernel...</a:t>
            </a:r>
            <a:endParaRPr lang="en-US" b="1" dirty="0"/>
          </a:p>
        </p:txBody>
      </p:sp>
      <p:graphicFrame>
        <p:nvGraphicFramePr>
          <p:cNvPr id="2" name="Table 1">
            <a:extLst>
              <a:ext uri="{FF2B5EF4-FFF2-40B4-BE49-F238E27FC236}">
                <a16:creationId xmlns:a16="http://schemas.microsoft.com/office/drawing/2014/main" id="{B119316D-EA31-5AAD-6DA7-28B0DE13A08C}"/>
              </a:ext>
            </a:extLst>
          </p:cNvPr>
          <p:cNvGraphicFramePr>
            <a:graphicFrameLocks noGrp="1"/>
          </p:cNvGraphicFramePr>
          <p:nvPr>
            <p:extLst>
              <p:ext uri="{D42A27DB-BD31-4B8C-83A1-F6EECF244321}">
                <p14:modId xmlns:p14="http://schemas.microsoft.com/office/powerpoint/2010/main" val="1807425982"/>
              </p:ext>
            </p:extLst>
          </p:nvPr>
        </p:nvGraphicFramePr>
        <p:xfrm>
          <a:off x="635762" y="1212595"/>
          <a:ext cx="8718550" cy="3715297"/>
        </p:xfrm>
        <a:graphic>
          <a:graphicData uri="http://schemas.openxmlformats.org/drawingml/2006/table">
            <a:tbl>
              <a:tblPr>
                <a:tableStyleId>{5C22544A-7EE6-4342-B048-85BDC9FD1C3A}</a:tableStyleId>
              </a:tblPr>
              <a:tblGrid>
                <a:gridCol w="1185525">
                  <a:extLst>
                    <a:ext uri="{9D8B030D-6E8A-4147-A177-3AD203B41FA5}">
                      <a16:colId xmlns:a16="http://schemas.microsoft.com/office/drawing/2014/main" val="710426357"/>
                    </a:ext>
                  </a:extLst>
                </a:gridCol>
                <a:gridCol w="1185525">
                  <a:extLst>
                    <a:ext uri="{9D8B030D-6E8A-4147-A177-3AD203B41FA5}">
                      <a16:colId xmlns:a16="http://schemas.microsoft.com/office/drawing/2014/main" val="975086290"/>
                    </a:ext>
                  </a:extLst>
                </a:gridCol>
                <a:gridCol w="1185525">
                  <a:extLst>
                    <a:ext uri="{9D8B030D-6E8A-4147-A177-3AD203B41FA5}">
                      <a16:colId xmlns:a16="http://schemas.microsoft.com/office/drawing/2014/main" val="1543062010"/>
                    </a:ext>
                  </a:extLst>
                </a:gridCol>
                <a:gridCol w="1185525">
                  <a:extLst>
                    <a:ext uri="{9D8B030D-6E8A-4147-A177-3AD203B41FA5}">
                      <a16:colId xmlns:a16="http://schemas.microsoft.com/office/drawing/2014/main" val="1333289175"/>
                    </a:ext>
                  </a:extLst>
                </a:gridCol>
                <a:gridCol w="1185525">
                  <a:extLst>
                    <a:ext uri="{9D8B030D-6E8A-4147-A177-3AD203B41FA5}">
                      <a16:colId xmlns:a16="http://schemas.microsoft.com/office/drawing/2014/main" val="147738776"/>
                    </a:ext>
                  </a:extLst>
                </a:gridCol>
                <a:gridCol w="1185525">
                  <a:extLst>
                    <a:ext uri="{9D8B030D-6E8A-4147-A177-3AD203B41FA5}">
                      <a16:colId xmlns:a16="http://schemas.microsoft.com/office/drawing/2014/main" val="4146154339"/>
                    </a:ext>
                  </a:extLst>
                </a:gridCol>
                <a:gridCol w="1605400">
                  <a:extLst>
                    <a:ext uri="{9D8B030D-6E8A-4147-A177-3AD203B41FA5}">
                      <a16:colId xmlns:a16="http://schemas.microsoft.com/office/drawing/2014/main" val="143433617"/>
                    </a:ext>
                  </a:extLst>
                </a:gridCol>
              </a:tblGrid>
              <a:tr h="464413">
                <a:tc>
                  <a:txBody>
                    <a:bodyPr/>
                    <a:lstStyle/>
                    <a:p>
                      <a:pPr algn="ctr" fontAlgn="ctr">
                        <a:buNone/>
                      </a:pPr>
                      <a:r>
                        <a:rPr lang="en-US" sz="1400" u="none" strike="noStrike" dirty="0">
                          <a:effectLst/>
                        </a:rPr>
                        <a:t>M</a:t>
                      </a:r>
                      <a:endParaRPr lang="en-US" sz="1400" b="0" i="0" u="none" strike="noStrike" dirty="0">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dirty="0">
                          <a:effectLst/>
                        </a:rPr>
                        <a:t>N</a:t>
                      </a:r>
                      <a:endParaRPr lang="en-US" sz="1400" b="0" i="0" u="none" strike="noStrike" dirty="0">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a:effectLst/>
                        </a:rPr>
                        <a:t>In-Dtype</a:t>
                      </a:r>
                      <a:endParaRPr lang="en-US" sz="1400" b="0" i="0" u="none" strike="noStrike">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a:effectLst/>
                        </a:rPr>
                        <a:t>Out-Dtype</a:t>
                      </a:r>
                      <a:endParaRPr lang="en-US" sz="1400" b="0" i="0" u="none" strike="noStrike">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dirty="0">
                          <a:effectLst/>
                        </a:rPr>
                        <a:t>Base-</a:t>
                      </a:r>
                      <a:r>
                        <a:rPr lang="en-US" sz="1400" u="none" strike="noStrike" dirty="0" err="1">
                          <a:effectLst/>
                        </a:rPr>
                        <a:t>fwd</a:t>
                      </a:r>
                      <a:r>
                        <a:rPr lang="en-US" sz="1400" u="none" strike="noStrike" dirty="0">
                          <a:effectLst/>
                        </a:rPr>
                        <a:t> (us)</a:t>
                      </a:r>
                      <a:endParaRPr lang="en-US" sz="1400" b="0" i="0" u="none" strike="noStrike" dirty="0">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dirty="0" err="1">
                          <a:effectLst/>
                        </a:rPr>
                        <a:t>Opt-fwd</a:t>
                      </a:r>
                      <a:r>
                        <a:rPr lang="en-US" sz="1400" u="none" strike="noStrike" dirty="0">
                          <a:effectLst/>
                        </a:rPr>
                        <a:t> (us)</a:t>
                      </a:r>
                      <a:endParaRPr lang="en-US" sz="1400" b="0" i="0" u="none" strike="noStrike" dirty="0">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a:effectLst/>
                        </a:rPr>
                        <a:t>fwd-boost</a:t>
                      </a:r>
                      <a:br>
                        <a:rPr lang="en-US" sz="1400" u="none" strike="noStrike">
                          <a:effectLst/>
                        </a:rPr>
                      </a:br>
                      <a:r>
                        <a:rPr lang="en-US" sz="1400" u="none" strike="noStrike">
                          <a:effectLst/>
                        </a:rPr>
                        <a:t>(HIP/Opt)</a:t>
                      </a:r>
                      <a:endParaRPr lang="en-US" sz="1400" b="0" i="0" u="none" strike="noStrike">
                        <a:solidFill>
                          <a:srgbClr val="000000"/>
                        </a:solidFill>
                        <a:effectLst/>
                        <a:latin typeface="Calibri" panose="020F0502020204030204" pitchFamily="34" charset="0"/>
                      </a:endParaRPr>
                    </a:p>
                  </a:txBody>
                  <a:tcPr marL="6350" marR="6350" marT="6350" marB="0" anchor="ctr">
                    <a:solidFill>
                      <a:schemeClr val="tx1"/>
                    </a:solidFill>
                  </a:tcPr>
                </a:tc>
                <a:extLst>
                  <a:ext uri="{0D108BD9-81ED-4DB2-BD59-A6C34878D82A}">
                    <a16:rowId xmlns:a16="http://schemas.microsoft.com/office/drawing/2014/main" val="3460808376"/>
                  </a:ext>
                </a:extLst>
              </a:tr>
              <a:tr h="232206">
                <a:tc>
                  <a:txBody>
                    <a:bodyPr/>
                    <a:lstStyle/>
                    <a:p>
                      <a:pPr algn="ctr" fontAlgn="b">
                        <a:buNone/>
                      </a:pPr>
                      <a:r>
                        <a:rPr lang="en-US" sz="1400" u="none" strike="noStrike" dirty="0">
                          <a:effectLst/>
                        </a:rPr>
                        <a:t>6800</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928</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fp16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64.368</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20.149</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3.19</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3629120538"/>
                  </a:ext>
                </a:extLst>
              </a:tr>
              <a:tr h="232206">
                <a:tc>
                  <a:txBody>
                    <a:bodyPr/>
                    <a:lstStyle/>
                    <a:p>
                      <a:pPr algn="ctr" fontAlgn="b">
                        <a:buNone/>
                      </a:pPr>
                      <a:r>
                        <a:rPr lang="en-US" sz="1400" u="none" strike="noStrike">
                          <a:effectLst/>
                        </a:rPr>
                        <a:t>16000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1472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fp16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fp16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192.124</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61.059</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3.15</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1750429119"/>
                  </a:ext>
                </a:extLst>
              </a:tr>
              <a:tr h="232206">
                <a:tc>
                  <a:txBody>
                    <a:bodyPr/>
                    <a:lstStyle/>
                    <a:p>
                      <a:pPr algn="ctr" fontAlgn="b">
                        <a:buNone/>
                      </a:pPr>
                      <a:r>
                        <a:rPr lang="en-US" sz="1400" u="none" strike="noStrike">
                          <a:effectLst/>
                        </a:rPr>
                        <a:t>46000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2240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fp16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fp16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574.380</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338.737</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1.70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3071150485"/>
                  </a:ext>
                </a:extLst>
              </a:tr>
              <a:tr h="232206">
                <a:tc>
                  <a:txBody>
                    <a:bodyPr/>
                    <a:lstStyle/>
                    <a:p>
                      <a:pPr algn="ctr" fontAlgn="b">
                        <a:buNone/>
                      </a:pPr>
                      <a:r>
                        <a:rPr lang="en-US" sz="1400" u="none" strike="noStrike">
                          <a:effectLst/>
                        </a:rPr>
                        <a:t>34003</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3957</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fp16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793.507</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519.099</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1.53</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2791019355"/>
                  </a:ext>
                </a:extLst>
              </a:tr>
              <a:tr h="232206">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1243702419"/>
                  </a:ext>
                </a:extLst>
              </a:tr>
              <a:tr h="232206">
                <a:tc>
                  <a:txBody>
                    <a:bodyPr/>
                    <a:lstStyle/>
                    <a:p>
                      <a:pPr algn="ctr" fontAlgn="b">
                        <a:buNone/>
                      </a:pPr>
                      <a:r>
                        <a:rPr lang="en-US" sz="1400" u="none" strike="noStrike" dirty="0">
                          <a:effectLst/>
                        </a:rPr>
                        <a:t>6800</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928</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fp32</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70.400</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24.001</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2.93</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3558830840"/>
                  </a:ext>
                </a:extLst>
              </a:tr>
              <a:tr h="232206">
                <a:tc>
                  <a:txBody>
                    <a:bodyPr/>
                    <a:lstStyle/>
                    <a:p>
                      <a:pPr algn="ctr" fontAlgn="b">
                        <a:buNone/>
                      </a:pPr>
                      <a:r>
                        <a:rPr lang="en-US" sz="1400" u="none" strike="noStrike">
                          <a:effectLst/>
                        </a:rPr>
                        <a:t>16000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1472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fp32</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223.896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91.833</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2.44</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3193329522"/>
                  </a:ext>
                </a:extLst>
              </a:tr>
              <a:tr h="232206">
                <a:tc>
                  <a:txBody>
                    <a:bodyPr/>
                    <a:lstStyle/>
                    <a:p>
                      <a:pPr algn="ctr" fontAlgn="b">
                        <a:buNone/>
                      </a:pPr>
                      <a:r>
                        <a:rPr lang="en-US" sz="1400" u="none" strike="noStrike">
                          <a:effectLst/>
                        </a:rPr>
                        <a:t>46000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2240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680.078</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447.538</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1.52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542468235"/>
                  </a:ext>
                </a:extLst>
              </a:tr>
              <a:tr h="232206">
                <a:tc>
                  <a:txBody>
                    <a:bodyPr/>
                    <a:lstStyle/>
                    <a:p>
                      <a:pPr algn="ctr" fontAlgn="b">
                        <a:buNone/>
                      </a:pPr>
                      <a:r>
                        <a:rPr lang="en-US" sz="1400" u="none" strike="noStrike">
                          <a:effectLst/>
                        </a:rPr>
                        <a:t>34003</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3957</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882.146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632.478</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1.39</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2094374818"/>
                  </a:ext>
                </a:extLst>
              </a:tr>
              <a:tr h="232206">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3861983130"/>
                  </a:ext>
                </a:extLst>
              </a:tr>
              <a:tr h="232206">
                <a:tc>
                  <a:txBody>
                    <a:bodyPr/>
                    <a:lstStyle/>
                    <a:p>
                      <a:pPr algn="ctr" fontAlgn="b">
                        <a:buNone/>
                      </a:pPr>
                      <a:r>
                        <a:rPr lang="en-US" sz="1400" u="none" strike="noStrike" dirty="0">
                          <a:effectLst/>
                        </a:rPr>
                        <a:t>6800</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928</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bf16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69.094</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23.736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2.91</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2643854335"/>
                  </a:ext>
                </a:extLst>
              </a:tr>
              <a:tr h="232206">
                <a:tc>
                  <a:txBody>
                    <a:bodyPr/>
                    <a:lstStyle/>
                    <a:p>
                      <a:pPr algn="ctr" fontAlgn="b">
                        <a:buNone/>
                      </a:pPr>
                      <a:r>
                        <a:rPr lang="en-US" sz="1400" u="none" strike="noStrike">
                          <a:effectLst/>
                        </a:rPr>
                        <a:t>16000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1472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bf16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197.039</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85.414</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2.31</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2466029965"/>
                  </a:ext>
                </a:extLst>
              </a:tr>
              <a:tr h="232206">
                <a:tc>
                  <a:txBody>
                    <a:bodyPr/>
                    <a:lstStyle/>
                    <a:p>
                      <a:pPr algn="ctr" fontAlgn="b">
                        <a:buNone/>
                      </a:pPr>
                      <a:r>
                        <a:rPr lang="en-US" sz="1400" u="none" strike="noStrike">
                          <a:effectLst/>
                        </a:rPr>
                        <a:t>46000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2240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bf16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637.176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421.385</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1.51</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3374046815"/>
                  </a:ext>
                </a:extLst>
              </a:tr>
              <a:tr h="232206">
                <a:tc>
                  <a:txBody>
                    <a:bodyPr/>
                    <a:lstStyle/>
                    <a:p>
                      <a:pPr algn="ctr" fontAlgn="b">
                        <a:buNone/>
                      </a:pPr>
                      <a:r>
                        <a:rPr lang="en-US" sz="1400" u="none" strike="noStrike">
                          <a:effectLst/>
                        </a:rPr>
                        <a:t>34003</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3957</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bf16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811.177</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556.470</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1.46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1416645079"/>
                  </a:ext>
                </a:extLst>
              </a:tr>
            </a:tbl>
          </a:graphicData>
        </a:graphic>
      </p:graphicFrame>
    </p:spTree>
    <p:extLst>
      <p:ext uri="{BB962C8B-B14F-4D97-AF65-F5344CB8AC3E}">
        <p14:creationId xmlns:p14="http://schemas.microsoft.com/office/powerpoint/2010/main" val="54211271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7F57E-8D4D-7984-9229-1F88F22C89BC}"/>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F2F1BBB0-56C4-EA04-713E-D3F4BC95FDDE}"/>
              </a:ext>
            </a:extLst>
          </p:cNvPr>
          <p:cNvSpPr txBox="1"/>
          <p:nvPr/>
        </p:nvSpPr>
        <p:spPr bwMode="auto">
          <a:xfrm>
            <a:off x="0" y="0"/>
            <a:ext cx="12192000" cy="718820"/>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hangingPunct="1"/>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TE-</a:t>
            </a:r>
            <a:r>
              <a:rPr lang="en-US" altLang="zh-CN" sz="3600" dirty="0" err="1">
                <a:solidFill>
                  <a:srgbClr val="FF800D"/>
                </a:solidFill>
                <a:latin typeface="微软雅黑" panose="020B0503020204020204" pitchFamily="34" charset="-122"/>
                <a:ea typeface="微软雅黑" panose="020B0503020204020204" pitchFamily="34" charset="-122"/>
                <a:cs typeface="Arial" panose="020B0604020202020204" pitchFamily="34" charset="0"/>
              </a:rPr>
              <a:t>LayerNorm</a:t>
            </a:r>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 General-Backward-Phase </a:t>
            </a:r>
          </a:p>
        </p:txBody>
      </p:sp>
      <p:sp>
        <p:nvSpPr>
          <p:cNvPr id="9" name="TextBox 8">
            <a:extLst>
              <a:ext uri="{FF2B5EF4-FFF2-40B4-BE49-F238E27FC236}">
                <a16:creationId xmlns:a16="http://schemas.microsoft.com/office/drawing/2014/main" id="{FD6CF461-E4A0-1E56-D276-C161BAC65A79}"/>
              </a:ext>
            </a:extLst>
          </p:cNvPr>
          <p:cNvSpPr txBox="1"/>
          <p:nvPr/>
        </p:nvSpPr>
        <p:spPr>
          <a:xfrm>
            <a:off x="493078" y="3549872"/>
            <a:ext cx="10863770" cy="2862322"/>
          </a:xfrm>
          <a:prstGeom prst="rect">
            <a:avLst/>
          </a:prstGeom>
          <a:noFill/>
        </p:spPr>
        <p:txBody>
          <a:bodyPr wrap="square">
            <a:spAutoFit/>
          </a:bodyPr>
          <a:lstStyle/>
          <a:p>
            <a:r>
              <a:rPr lang="en-US" sz="1800" dirty="0" err="1"/>
              <a:t>KeyPoint</a:t>
            </a:r>
            <a:r>
              <a:rPr lang="en-US" sz="1800" dirty="0"/>
              <a:t>:</a:t>
            </a:r>
          </a:p>
          <a:p>
            <a:pPr marL="285750" indent="-285750">
              <a:buFont typeface="Wingdings" panose="05000000000000000000" pitchFamily="2" charset="2"/>
              <a:buChar char="Ø"/>
            </a:pPr>
            <a:r>
              <a:rPr lang="en-US" dirty="0"/>
              <a:t>Mitigated register spilling in the backward pass of the general branch under certain condition. (When M is large, the performance improvement is more significant.)</a:t>
            </a:r>
            <a:br>
              <a:rPr lang="en-US" dirty="0"/>
            </a:br>
            <a:r>
              <a:rPr lang="en-US" dirty="0"/>
              <a:t>Accumulate </a:t>
            </a:r>
            <a:r>
              <a:rPr lang="en-US" dirty="0" err="1"/>
              <a:t>dgamma</a:t>
            </a:r>
            <a:r>
              <a:rPr lang="en-US" dirty="0"/>
              <a:t> and </a:t>
            </a:r>
            <a:r>
              <a:rPr lang="en-US" dirty="0" err="1"/>
              <a:t>dbeta</a:t>
            </a:r>
            <a:r>
              <a:rPr lang="en-US" dirty="0"/>
              <a:t> during dx computation/write-back rather than in hot loops; only cache y, not dy.</a:t>
            </a:r>
          </a:p>
          <a:p>
            <a:r>
              <a:rPr lang="en-US" dirty="0"/>
              <a:t>    </a:t>
            </a:r>
            <a:endParaRPr lang="en-US" sz="1800" dirty="0"/>
          </a:p>
          <a:p>
            <a:pPr marL="285750" indent="-285750">
              <a:buFont typeface="Wingdings" panose="05000000000000000000" pitchFamily="2" charset="2"/>
              <a:buChar char="Ø"/>
            </a:pPr>
            <a:endParaRPr lang="en-US" sz="1800" dirty="0"/>
          </a:p>
          <a:p>
            <a:pPr marL="285750" indent="-285750">
              <a:buFont typeface="Wingdings" panose="05000000000000000000" pitchFamily="2" charset="2"/>
              <a:buChar char="Ø"/>
            </a:pPr>
            <a:r>
              <a:rPr lang="en-US" dirty="0"/>
              <a:t>Optimized the dispatch strategy for the backward finalize kernel in the general branch.</a:t>
            </a:r>
            <a:br>
              <a:rPr lang="en-US" dirty="0"/>
            </a:br>
            <a:r>
              <a:rPr lang="en-US" dirty="0"/>
              <a:t>If n%32==0, launch the tuned kernel; otherwise, launch the general kernel.</a:t>
            </a:r>
          </a:p>
          <a:p>
            <a:pPr marL="285750" indent="-285750">
              <a:buFont typeface="Wingdings" panose="05000000000000000000" pitchFamily="2" charset="2"/>
              <a:buChar char="Ø"/>
            </a:pPr>
            <a:endParaRPr lang="en-US" sz="1800" dirty="0"/>
          </a:p>
        </p:txBody>
      </p:sp>
      <p:graphicFrame>
        <p:nvGraphicFramePr>
          <p:cNvPr id="2" name="Object 1">
            <a:extLst>
              <a:ext uri="{FF2B5EF4-FFF2-40B4-BE49-F238E27FC236}">
                <a16:creationId xmlns:a16="http://schemas.microsoft.com/office/drawing/2014/main" id="{22540FAD-0F79-CF9A-7374-E8BC98602BE5}"/>
              </a:ext>
            </a:extLst>
          </p:cNvPr>
          <p:cNvGraphicFramePr>
            <a:graphicFrameLocks noChangeAspect="1"/>
          </p:cNvGraphicFramePr>
          <p:nvPr>
            <p:extLst>
              <p:ext uri="{D42A27DB-BD31-4B8C-83A1-F6EECF244321}">
                <p14:modId xmlns:p14="http://schemas.microsoft.com/office/powerpoint/2010/main" val="1751955626"/>
              </p:ext>
            </p:extLst>
          </p:nvPr>
        </p:nvGraphicFramePr>
        <p:xfrm>
          <a:off x="566230" y="1088025"/>
          <a:ext cx="9609137" cy="2366962"/>
        </p:xfrm>
        <a:graphic>
          <a:graphicData uri="http://schemas.openxmlformats.org/presentationml/2006/ole">
            <mc:AlternateContent xmlns:mc="http://schemas.openxmlformats.org/markup-compatibility/2006">
              <mc:Choice xmlns:v="urn:schemas-microsoft-com:vml" Requires="v">
                <p:oleObj name="Worksheet" r:id="rId2" imgW="7493017" imgH="1847850" progId="Excel.Sheet.12">
                  <p:embed/>
                </p:oleObj>
              </mc:Choice>
              <mc:Fallback>
                <p:oleObj name="Worksheet" r:id="rId2" imgW="7493017" imgH="1847850" progId="Excel.Sheet.12">
                  <p:embed/>
                  <p:pic>
                    <p:nvPicPr>
                      <p:cNvPr id="3" name="Object 2">
                        <a:extLst>
                          <a:ext uri="{FF2B5EF4-FFF2-40B4-BE49-F238E27FC236}">
                            <a16:creationId xmlns:a16="http://schemas.microsoft.com/office/drawing/2014/main" id="{9936124E-B071-E315-2FE7-F1A93EFB729E}"/>
                          </a:ext>
                        </a:extLst>
                      </p:cNvPr>
                      <p:cNvPicPr/>
                      <p:nvPr/>
                    </p:nvPicPr>
                    <p:blipFill>
                      <a:blip r:embed="rId3"/>
                      <a:stretch>
                        <a:fillRect/>
                      </a:stretch>
                    </p:blipFill>
                    <p:spPr>
                      <a:xfrm>
                        <a:off x="566230" y="1088025"/>
                        <a:ext cx="9609137" cy="2366962"/>
                      </a:xfrm>
                      <a:prstGeom prst="rect">
                        <a:avLst/>
                      </a:prstGeom>
                      <a:solidFill>
                        <a:schemeClr val="tx1"/>
                      </a:solidFill>
                    </p:spPr>
                  </p:pic>
                </p:oleObj>
              </mc:Fallback>
            </mc:AlternateContent>
          </a:graphicData>
        </a:graphic>
      </p:graphicFrame>
      <p:sp>
        <p:nvSpPr>
          <p:cNvPr id="3" name="TextBox 2">
            <a:extLst>
              <a:ext uri="{FF2B5EF4-FFF2-40B4-BE49-F238E27FC236}">
                <a16:creationId xmlns:a16="http://schemas.microsoft.com/office/drawing/2014/main" id="{4E70EED2-A066-F982-EC3D-47E01F207673}"/>
              </a:ext>
            </a:extLst>
          </p:cNvPr>
          <p:cNvSpPr txBox="1"/>
          <p:nvPr/>
        </p:nvSpPr>
        <p:spPr>
          <a:xfrm>
            <a:off x="483934" y="672107"/>
            <a:ext cx="6995858" cy="369332"/>
          </a:xfrm>
          <a:prstGeom prst="rect">
            <a:avLst/>
          </a:prstGeom>
          <a:noFill/>
        </p:spPr>
        <p:txBody>
          <a:bodyPr wrap="square">
            <a:spAutoFit/>
          </a:bodyPr>
          <a:lstStyle/>
          <a:p>
            <a:r>
              <a:rPr lang="en-US" b="1" dirty="0"/>
              <a:t>General backward kernel optimization will summit a PR</a:t>
            </a:r>
            <a:r>
              <a:rPr lang="en-US" sz="1800" b="1" dirty="0"/>
              <a:t>.</a:t>
            </a:r>
            <a:endParaRPr lang="en-US" b="1" dirty="0"/>
          </a:p>
        </p:txBody>
      </p:sp>
    </p:spTree>
    <p:extLst>
      <p:ext uri="{BB962C8B-B14F-4D97-AF65-F5344CB8AC3E}">
        <p14:creationId xmlns:p14="http://schemas.microsoft.com/office/powerpoint/2010/main" val="40195608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E3D54-D3A9-3311-D5E7-EC8A127276CF}"/>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5F8D005A-D56B-AD47-97F3-16D20C75FAA8}"/>
              </a:ext>
            </a:extLst>
          </p:cNvPr>
          <p:cNvSpPr txBox="1"/>
          <p:nvPr/>
        </p:nvSpPr>
        <p:spPr bwMode="auto">
          <a:xfrm>
            <a:off x="0" y="0"/>
            <a:ext cx="12192000" cy="718820"/>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hangingPunct="1"/>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TE-</a:t>
            </a:r>
            <a:r>
              <a:rPr lang="en-US" altLang="zh-CN" sz="3600" dirty="0" err="1">
                <a:solidFill>
                  <a:srgbClr val="FF800D"/>
                </a:solidFill>
                <a:latin typeface="微软雅黑" panose="020B0503020204020204" pitchFamily="34" charset="-122"/>
                <a:ea typeface="微软雅黑" panose="020B0503020204020204" pitchFamily="34" charset="-122"/>
                <a:cs typeface="Arial" panose="020B0604020202020204" pitchFamily="34" charset="0"/>
              </a:rPr>
              <a:t>LayerNorm</a:t>
            </a:r>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 General-Backward Phase </a:t>
            </a:r>
          </a:p>
        </p:txBody>
      </p:sp>
      <p:sp>
        <p:nvSpPr>
          <p:cNvPr id="4" name="TextBox 3">
            <a:extLst>
              <a:ext uri="{FF2B5EF4-FFF2-40B4-BE49-F238E27FC236}">
                <a16:creationId xmlns:a16="http://schemas.microsoft.com/office/drawing/2014/main" id="{A084D1F3-548F-984C-928C-920E9A4C125B}"/>
              </a:ext>
            </a:extLst>
          </p:cNvPr>
          <p:cNvSpPr txBox="1"/>
          <p:nvPr/>
        </p:nvSpPr>
        <p:spPr>
          <a:xfrm>
            <a:off x="502222" y="779272"/>
            <a:ext cx="7599362" cy="369332"/>
          </a:xfrm>
          <a:prstGeom prst="rect">
            <a:avLst/>
          </a:prstGeom>
          <a:noFill/>
        </p:spPr>
        <p:txBody>
          <a:bodyPr wrap="square">
            <a:spAutoFit/>
          </a:bodyPr>
          <a:lstStyle/>
          <a:p>
            <a:r>
              <a:rPr lang="en-US" b="1" dirty="0"/>
              <a:t>M</a:t>
            </a:r>
            <a:r>
              <a:rPr lang="en-US" sz="1800" b="1" dirty="0"/>
              <a:t>ore shapes and types for general backward kernel...</a:t>
            </a:r>
            <a:endParaRPr lang="en-US" b="1" dirty="0"/>
          </a:p>
        </p:txBody>
      </p:sp>
      <p:graphicFrame>
        <p:nvGraphicFramePr>
          <p:cNvPr id="2" name="Table 1">
            <a:extLst>
              <a:ext uri="{FF2B5EF4-FFF2-40B4-BE49-F238E27FC236}">
                <a16:creationId xmlns:a16="http://schemas.microsoft.com/office/drawing/2014/main" id="{58F6D91B-AE56-7546-47E7-E2BE96AA2C62}"/>
              </a:ext>
            </a:extLst>
          </p:cNvPr>
          <p:cNvGraphicFramePr>
            <a:graphicFrameLocks noGrp="1"/>
          </p:cNvGraphicFramePr>
          <p:nvPr>
            <p:extLst>
              <p:ext uri="{D42A27DB-BD31-4B8C-83A1-F6EECF244321}">
                <p14:modId xmlns:p14="http://schemas.microsoft.com/office/powerpoint/2010/main" val="2787694834"/>
              </p:ext>
            </p:extLst>
          </p:nvPr>
        </p:nvGraphicFramePr>
        <p:xfrm>
          <a:off x="699517" y="1264669"/>
          <a:ext cx="9496044" cy="3765089"/>
        </p:xfrm>
        <a:graphic>
          <a:graphicData uri="http://schemas.openxmlformats.org/drawingml/2006/table">
            <a:tbl>
              <a:tblPr>
                <a:tableStyleId>{5C22544A-7EE6-4342-B048-85BDC9FD1C3A}</a:tableStyleId>
              </a:tblPr>
              <a:tblGrid>
                <a:gridCol w="1040662">
                  <a:extLst>
                    <a:ext uri="{9D8B030D-6E8A-4147-A177-3AD203B41FA5}">
                      <a16:colId xmlns:a16="http://schemas.microsoft.com/office/drawing/2014/main" val="738612039"/>
                    </a:ext>
                  </a:extLst>
                </a:gridCol>
                <a:gridCol w="1149066">
                  <a:extLst>
                    <a:ext uri="{9D8B030D-6E8A-4147-A177-3AD203B41FA5}">
                      <a16:colId xmlns:a16="http://schemas.microsoft.com/office/drawing/2014/main" val="638296788"/>
                    </a:ext>
                  </a:extLst>
                </a:gridCol>
                <a:gridCol w="1040662">
                  <a:extLst>
                    <a:ext uri="{9D8B030D-6E8A-4147-A177-3AD203B41FA5}">
                      <a16:colId xmlns:a16="http://schemas.microsoft.com/office/drawing/2014/main" val="1077506445"/>
                    </a:ext>
                  </a:extLst>
                </a:gridCol>
                <a:gridCol w="1127384">
                  <a:extLst>
                    <a:ext uri="{9D8B030D-6E8A-4147-A177-3AD203B41FA5}">
                      <a16:colId xmlns:a16="http://schemas.microsoft.com/office/drawing/2014/main" val="628541976"/>
                    </a:ext>
                  </a:extLst>
                </a:gridCol>
                <a:gridCol w="1907881">
                  <a:extLst>
                    <a:ext uri="{9D8B030D-6E8A-4147-A177-3AD203B41FA5}">
                      <a16:colId xmlns:a16="http://schemas.microsoft.com/office/drawing/2014/main" val="4126320993"/>
                    </a:ext>
                  </a:extLst>
                </a:gridCol>
                <a:gridCol w="1539312">
                  <a:extLst>
                    <a:ext uri="{9D8B030D-6E8A-4147-A177-3AD203B41FA5}">
                      <a16:colId xmlns:a16="http://schemas.microsoft.com/office/drawing/2014/main" val="2097714290"/>
                    </a:ext>
                  </a:extLst>
                </a:gridCol>
                <a:gridCol w="1691077">
                  <a:extLst>
                    <a:ext uri="{9D8B030D-6E8A-4147-A177-3AD203B41FA5}">
                      <a16:colId xmlns:a16="http://schemas.microsoft.com/office/drawing/2014/main" val="4244447705"/>
                    </a:ext>
                  </a:extLst>
                </a:gridCol>
              </a:tblGrid>
              <a:tr h="470637">
                <a:tc>
                  <a:txBody>
                    <a:bodyPr/>
                    <a:lstStyle/>
                    <a:p>
                      <a:pPr algn="ctr" fontAlgn="ctr">
                        <a:buNone/>
                      </a:pPr>
                      <a:r>
                        <a:rPr lang="en-US" sz="1400" u="none" strike="noStrike" dirty="0">
                          <a:effectLst/>
                        </a:rPr>
                        <a:t>M</a:t>
                      </a:r>
                      <a:endParaRPr lang="en-US" sz="1400" b="0" i="0" u="none" strike="noStrike" dirty="0">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dirty="0">
                          <a:effectLst/>
                        </a:rPr>
                        <a:t>N</a:t>
                      </a:r>
                      <a:endParaRPr lang="en-US" sz="1400" b="0" i="0" u="none" strike="noStrike" dirty="0">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a:effectLst/>
                        </a:rPr>
                        <a:t>In-Dtype</a:t>
                      </a:r>
                      <a:endParaRPr lang="en-US" sz="1400" b="0" i="0" u="none" strike="noStrike">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a:effectLst/>
                        </a:rPr>
                        <a:t>Out-Dtype</a:t>
                      </a:r>
                      <a:endParaRPr lang="en-US" sz="1400" b="0" i="0" u="none" strike="noStrike">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a:effectLst/>
                        </a:rPr>
                        <a:t>Base-bwd(us)</a:t>
                      </a:r>
                      <a:endParaRPr lang="en-US" sz="1400" b="0" i="0" u="none" strike="noStrike">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a:effectLst/>
                        </a:rPr>
                        <a:t>Opt-bwd(us)</a:t>
                      </a:r>
                      <a:endParaRPr lang="en-US" sz="1400" b="0" i="0" u="none" strike="noStrike">
                        <a:solidFill>
                          <a:srgbClr val="000000"/>
                        </a:solidFill>
                        <a:effectLst/>
                        <a:latin typeface="Calibri" panose="020F0502020204030204" pitchFamily="34" charset="0"/>
                      </a:endParaRPr>
                    </a:p>
                  </a:txBody>
                  <a:tcPr marL="6350" marR="6350" marT="6350" marB="0" anchor="ctr">
                    <a:solidFill>
                      <a:schemeClr val="tx1"/>
                    </a:solidFill>
                  </a:tcPr>
                </a:tc>
                <a:tc>
                  <a:txBody>
                    <a:bodyPr/>
                    <a:lstStyle/>
                    <a:p>
                      <a:pPr algn="ctr" fontAlgn="ctr">
                        <a:buNone/>
                      </a:pPr>
                      <a:r>
                        <a:rPr lang="en-US" sz="1400" u="none" strike="noStrike">
                          <a:effectLst/>
                        </a:rPr>
                        <a:t>bwd-boost</a:t>
                      </a:r>
                      <a:br>
                        <a:rPr lang="en-US" sz="1400" u="none" strike="noStrike">
                          <a:effectLst/>
                        </a:rPr>
                      </a:br>
                      <a:r>
                        <a:rPr lang="en-US" sz="1400" u="none" strike="noStrike">
                          <a:effectLst/>
                        </a:rPr>
                        <a:t>(HIP/Opt)</a:t>
                      </a:r>
                      <a:endParaRPr lang="en-US" sz="1400" b="0" i="0" u="none" strike="noStrike">
                        <a:solidFill>
                          <a:srgbClr val="000000"/>
                        </a:solidFill>
                        <a:effectLst/>
                        <a:latin typeface="Calibri" panose="020F0502020204030204" pitchFamily="34" charset="0"/>
                      </a:endParaRPr>
                    </a:p>
                  </a:txBody>
                  <a:tcPr marL="6350" marR="6350" marT="6350" marB="0" anchor="ctr">
                    <a:solidFill>
                      <a:schemeClr val="tx1"/>
                    </a:solidFill>
                  </a:tcPr>
                </a:tc>
                <a:extLst>
                  <a:ext uri="{0D108BD9-81ED-4DB2-BD59-A6C34878D82A}">
                    <a16:rowId xmlns:a16="http://schemas.microsoft.com/office/drawing/2014/main" val="1906411944"/>
                  </a:ext>
                </a:extLst>
              </a:tr>
              <a:tr h="235318">
                <a:tc>
                  <a:txBody>
                    <a:bodyPr/>
                    <a:lstStyle/>
                    <a:p>
                      <a:pPr algn="ctr" fontAlgn="b">
                        <a:buNone/>
                      </a:pPr>
                      <a:r>
                        <a:rPr lang="en-US" sz="1400" u="none" strike="noStrike">
                          <a:effectLst/>
                        </a:rPr>
                        <a:t>6800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928</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161.415</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113.413</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1.42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1364862988"/>
                  </a:ext>
                </a:extLst>
              </a:tr>
              <a:tr h="235318">
                <a:tc>
                  <a:txBody>
                    <a:bodyPr/>
                    <a:lstStyle/>
                    <a:p>
                      <a:pPr algn="ctr" fontAlgn="b">
                        <a:buNone/>
                      </a:pPr>
                      <a:r>
                        <a:rPr lang="en-US" sz="1400" u="none" strike="noStrike">
                          <a:effectLst/>
                        </a:rPr>
                        <a:t>16000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1472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fp16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fp16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275.917</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222.245</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1.24</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3663683654"/>
                  </a:ext>
                </a:extLst>
              </a:tr>
              <a:tr h="235318">
                <a:tc>
                  <a:txBody>
                    <a:bodyPr/>
                    <a:lstStyle/>
                    <a:p>
                      <a:pPr algn="ctr" fontAlgn="b">
                        <a:buNone/>
                      </a:pPr>
                      <a:r>
                        <a:rPr lang="en-US" sz="1400" u="none" strike="noStrike">
                          <a:effectLst/>
                        </a:rPr>
                        <a:t>46000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2240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fp16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1286.382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1042.155</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1.23</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2823705631"/>
                  </a:ext>
                </a:extLst>
              </a:tr>
              <a:tr h="235318">
                <a:tc>
                  <a:txBody>
                    <a:bodyPr/>
                    <a:lstStyle/>
                    <a:p>
                      <a:pPr algn="ctr" fontAlgn="b">
                        <a:buNone/>
                      </a:pPr>
                      <a:r>
                        <a:rPr lang="en-US" sz="1400" u="none" strike="noStrike">
                          <a:effectLst/>
                        </a:rPr>
                        <a:t>34003</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3957</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1716.719</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1646.7</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1.04</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1279510632"/>
                  </a:ext>
                </a:extLst>
              </a:tr>
              <a:tr h="235318">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4011937835"/>
                  </a:ext>
                </a:extLst>
              </a:tr>
              <a:tr h="235318">
                <a:tc>
                  <a:txBody>
                    <a:bodyPr/>
                    <a:lstStyle/>
                    <a:p>
                      <a:pPr algn="ctr" fontAlgn="b">
                        <a:buNone/>
                      </a:pPr>
                      <a:r>
                        <a:rPr lang="en-US" sz="1400" u="none" strike="noStrike" dirty="0">
                          <a:effectLst/>
                        </a:rPr>
                        <a:t>6800</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928</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162.071</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114.569</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1.41</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1032075020"/>
                  </a:ext>
                </a:extLst>
              </a:tr>
              <a:tr h="235318">
                <a:tc>
                  <a:txBody>
                    <a:bodyPr/>
                    <a:lstStyle/>
                    <a:p>
                      <a:pPr algn="ctr" fontAlgn="b">
                        <a:buNone/>
                      </a:pPr>
                      <a:r>
                        <a:rPr lang="en-US" sz="1400" u="none" strike="noStrike">
                          <a:effectLst/>
                        </a:rPr>
                        <a:t>16000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1472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733.466</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250.962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2.92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2435910317"/>
                  </a:ext>
                </a:extLst>
              </a:tr>
              <a:tr h="235318">
                <a:tc>
                  <a:txBody>
                    <a:bodyPr/>
                    <a:lstStyle/>
                    <a:p>
                      <a:pPr algn="ctr" fontAlgn="b">
                        <a:buNone/>
                      </a:pPr>
                      <a:r>
                        <a:rPr lang="en-US" sz="1400" u="none" strike="noStrike">
                          <a:effectLst/>
                        </a:rPr>
                        <a:t>46000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2240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1606.342</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1239.285</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1.30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728864234"/>
                  </a:ext>
                </a:extLst>
              </a:tr>
              <a:tr h="235318">
                <a:tc>
                  <a:txBody>
                    <a:bodyPr/>
                    <a:lstStyle/>
                    <a:p>
                      <a:pPr algn="ctr" fontAlgn="b">
                        <a:buNone/>
                      </a:pPr>
                      <a:r>
                        <a:rPr lang="en-US" sz="1400" u="none" strike="noStrike">
                          <a:effectLst/>
                        </a:rPr>
                        <a:t>34003</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3957</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2019.947</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2175.452</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0.93</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1679982216"/>
                  </a:ext>
                </a:extLst>
              </a:tr>
              <a:tr h="235318">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489532649"/>
                  </a:ext>
                </a:extLst>
              </a:tr>
              <a:tr h="235318">
                <a:tc>
                  <a:txBody>
                    <a:bodyPr/>
                    <a:lstStyle/>
                    <a:p>
                      <a:pPr algn="ctr" fontAlgn="b">
                        <a:buNone/>
                      </a:pPr>
                      <a:r>
                        <a:rPr lang="en-US" sz="1400" u="none" strike="noStrike" dirty="0">
                          <a:effectLst/>
                        </a:rPr>
                        <a:t>6800</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928</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bf16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164.584</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128.685</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1.28</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2234341363"/>
                  </a:ext>
                </a:extLst>
              </a:tr>
              <a:tr h="235318">
                <a:tc>
                  <a:txBody>
                    <a:bodyPr/>
                    <a:lstStyle/>
                    <a:p>
                      <a:pPr algn="ctr" fontAlgn="b">
                        <a:buNone/>
                      </a:pPr>
                      <a:r>
                        <a:rPr lang="en-US" sz="1400" u="none" strike="noStrike">
                          <a:effectLst/>
                        </a:rPr>
                        <a:t>16000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1472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bf16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731.358</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286.572</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2.55</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1940325238"/>
                  </a:ext>
                </a:extLst>
              </a:tr>
              <a:tr h="235318">
                <a:tc>
                  <a:txBody>
                    <a:bodyPr/>
                    <a:lstStyle/>
                    <a:p>
                      <a:pPr algn="ctr" fontAlgn="b">
                        <a:buNone/>
                      </a:pPr>
                      <a:r>
                        <a:rPr lang="en-US" sz="1400" u="none" strike="noStrike">
                          <a:effectLst/>
                        </a:rPr>
                        <a:t>46000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2240</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bf16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1611.027</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1242.662</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1.30</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647766093"/>
                  </a:ext>
                </a:extLst>
              </a:tr>
              <a:tr h="235318">
                <a:tc>
                  <a:txBody>
                    <a:bodyPr/>
                    <a:lstStyle/>
                    <a:p>
                      <a:pPr algn="ctr" fontAlgn="b">
                        <a:buNone/>
                      </a:pPr>
                      <a:r>
                        <a:rPr lang="en-US" sz="1400" u="none" strike="noStrike">
                          <a:effectLst/>
                        </a:rPr>
                        <a:t>34003</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3957</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fp32</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bf16</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2028.18</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a:effectLst/>
                        </a:rPr>
                        <a:t>2172.27</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tx1"/>
                    </a:solidFill>
                  </a:tcPr>
                </a:tc>
                <a:tc>
                  <a:txBody>
                    <a:bodyPr/>
                    <a:lstStyle/>
                    <a:p>
                      <a:pPr algn="ctr" fontAlgn="b">
                        <a:buNone/>
                      </a:pPr>
                      <a:r>
                        <a:rPr lang="en-US" sz="1400" u="none" strike="noStrike" dirty="0">
                          <a:effectLst/>
                        </a:rPr>
                        <a:t>0.93</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tx1"/>
                    </a:solidFill>
                  </a:tcPr>
                </a:tc>
                <a:extLst>
                  <a:ext uri="{0D108BD9-81ED-4DB2-BD59-A6C34878D82A}">
                    <a16:rowId xmlns:a16="http://schemas.microsoft.com/office/drawing/2014/main" val="2680154121"/>
                  </a:ext>
                </a:extLst>
              </a:tr>
            </a:tbl>
          </a:graphicData>
        </a:graphic>
      </p:graphicFrame>
    </p:spTree>
    <p:extLst>
      <p:ext uri="{BB962C8B-B14F-4D97-AF65-F5344CB8AC3E}">
        <p14:creationId xmlns:p14="http://schemas.microsoft.com/office/powerpoint/2010/main" val="175479578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452FB-E72E-070E-DB0E-BECB2723259F}"/>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26C259E7-DB97-9F1C-302A-C4B4741567FF}"/>
              </a:ext>
            </a:extLst>
          </p:cNvPr>
          <p:cNvSpPr txBox="1"/>
          <p:nvPr/>
        </p:nvSpPr>
        <p:spPr bwMode="auto">
          <a:xfrm>
            <a:off x="0" y="0"/>
            <a:ext cx="12192000" cy="718820"/>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algn="l" eaLnBrk="1" hangingPunct="1"/>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TE-</a:t>
            </a:r>
            <a:r>
              <a:rPr lang="en-US" altLang="zh-CN" sz="3600" dirty="0" err="1">
                <a:solidFill>
                  <a:srgbClr val="FF800D"/>
                </a:solidFill>
                <a:latin typeface="微软雅黑" panose="020B0503020204020204" pitchFamily="34" charset="-122"/>
                <a:ea typeface="微软雅黑" panose="020B0503020204020204" pitchFamily="34" charset="-122"/>
                <a:cs typeface="Arial" panose="020B0604020202020204" pitchFamily="34" charset="0"/>
              </a:rPr>
              <a:t>LayerNorm</a:t>
            </a:r>
            <a:r>
              <a:rPr lang="en-US" altLang="zh-CN" sz="3600" dirty="0">
                <a:solidFill>
                  <a:srgbClr val="FF800D"/>
                </a:solidFill>
                <a:latin typeface="微软雅黑" panose="020B0503020204020204" pitchFamily="34" charset="-122"/>
                <a:ea typeface="微软雅黑" panose="020B0503020204020204" pitchFamily="34" charset="-122"/>
                <a:cs typeface="Arial" panose="020B0604020202020204" pitchFamily="34" charset="0"/>
              </a:rPr>
              <a:t> PR to submit</a:t>
            </a:r>
          </a:p>
        </p:txBody>
      </p:sp>
      <p:sp>
        <p:nvSpPr>
          <p:cNvPr id="5" name="TextBox 4">
            <a:extLst>
              <a:ext uri="{FF2B5EF4-FFF2-40B4-BE49-F238E27FC236}">
                <a16:creationId xmlns:a16="http://schemas.microsoft.com/office/drawing/2014/main" id="{09219048-04CB-6E1C-4701-A6ECC8CAADBE}"/>
              </a:ext>
            </a:extLst>
          </p:cNvPr>
          <p:cNvSpPr txBox="1"/>
          <p:nvPr/>
        </p:nvSpPr>
        <p:spPr>
          <a:xfrm>
            <a:off x="368046" y="954084"/>
            <a:ext cx="11208258" cy="2308324"/>
          </a:xfrm>
          <a:prstGeom prst="rect">
            <a:avLst/>
          </a:prstGeom>
          <a:noFill/>
        </p:spPr>
        <p:txBody>
          <a:bodyPr wrap="square">
            <a:spAutoFit/>
          </a:bodyPr>
          <a:lstStyle/>
          <a:p>
            <a:r>
              <a:rPr lang="en-US" dirty="0"/>
              <a:t>According to meeting discussion, three PRs will be submitted based on the TransformerEngine@f3938a3:</a:t>
            </a:r>
          </a:p>
          <a:p>
            <a:endParaRPr lang="en-US" dirty="0"/>
          </a:p>
          <a:p>
            <a:r>
              <a:rPr lang="en-US" dirty="0"/>
              <a:t>1. A performance improvement PR for the forward kernel, providing performance comparison data.</a:t>
            </a:r>
          </a:p>
          <a:p>
            <a:pPr marL="342900" indent="-342900">
              <a:buAutoNum type="arabicPeriod"/>
            </a:pPr>
            <a:endParaRPr lang="en-US" dirty="0"/>
          </a:p>
          <a:p>
            <a:r>
              <a:rPr lang="en-US" dirty="0"/>
              <a:t>2. A performance improvement PR for the backward kernel, providing performance comparison data.</a:t>
            </a:r>
          </a:p>
          <a:p>
            <a:endParaRPr lang="en-US" dirty="0"/>
          </a:p>
          <a:p>
            <a:r>
              <a:rPr lang="en-US" dirty="0"/>
              <a:t>3. After </a:t>
            </a:r>
            <a:r>
              <a:rPr lang="en-US" dirty="0" err="1"/>
              <a:t>Wangye</a:t>
            </a:r>
            <a:r>
              <a:rPr lang="en-US" dirty="0"/>
              <a:t> provides the online tuning framework, we will incorporate our tuning strategy and submit a PR.</a:t>
            </a:r>
          </a:p>
        </p:txBody>
      </p:sp>
    </p:spTree>
    <p:extLst>
      <p:ext uri="{BB962C8B-B14F-4D97-AF65-F5344CB8AC3E}">
        <p14:creationId xmlns:p14="http://schemas.microsoft.com/office/powerpoint/2010/main" val="298400471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76880-255F-A56D-E473-7FD46B5C3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33ECF7-A696-1387-0A77-360D58A3166B}"/>
              </a:ext>
            </a:extLst>
          </p:cNvPr>
          <p:cNvSpPr>
            <a:spLocks noGrp="1"/>
          </p:cNvSpPr>
          <p:nvPr>
            <p:ph type="title"/>
          </p:nvPr>
        </p:nvSpPr>
        <p:spPr>
          <a:xfrm>
            <a:off x="3532631" y="2859502"/>
            <a:ext cx="5675377" cy="430887"/>
          </a:xfrm>
        </p:spPr>
        <p:txBody>
          <a:bodyPr/>
          <a:lstStyle/>
          <a:p>
            <a:r>
              <a:rPr lang="en-US" b="0" dirty="0"/>
              <a:t>Slides Used During The Discussion</a:t>
            </a:r>
            <a:endParaRPr lang="en-US" dirty="0"/>
          </a:p>
        </p:txBody>
      </p:sp>
    </p:spTree>
    <p:extLst>
      <p:ext uri="{BB962C8B-B14F-4D97-AF65-F5344CB8AC3E}">
        <p14:creationId xmlns:p14="http://schemas.microsoft.com/office/powerpoint/2010/main" val="319500014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791" y="173397"/>
            <a:ext cx="11018520" cy="430887"/>
          </a:xfrm>
        </p:spPr>
        <p:txBody>
          <a:bodyPr/>
          <a:lstStyle/>
          <a:p>
            <a:r>
              <a:rPr lang="en-US" dirty="0"/>
              <a:t>Summary--</a:t>
            </a:r>
            <a:r>
              <a:rPr lang="en-US" dirty="0" err="1"/>
              <a:t>fwd</a:t>
            </a:r>
            <a:endParaRPr lang="en-US" dirty="0"/>
          </a:p>
        </p:txBody>
      </p:sp>
      <p:sp>
        <p:nvSpPr>
          <p:cNvPr id="3" name="Content Placeholder 2"/>
          <p:cNvSpPr>
            <a:spLocks noGrp="1"/>
          </p:cNvSpPr>
          <p:nvPr>
            <p:ph sz="quarter" idx="10"/>
          </p:nvPr>
        </p:nvSpPr>
        <p:spPr>
          <a:xfrm>
            <a:off x="422692" y="684385"/>
            <a:ext cx="11601668" cy="879239"/>
          </a:xfrm>
        </p:spPr>
        <p:txBody>
          <a:bodyPr/>
          <a:lstStyle/>
          <a:p>
            <a:r>
              <a:rPr lang="en-US" sz="1600" dirty="0"/>
              <a:t>The</a:t>
            </a:r>
            <a:r>
              <a:rPr lang="zh-CN" altLang="en-US" sz="1600" dirty="0"/>
              <a:t> </a:t>
            </a:r>
            <a:r>
              <a:rPr lang="en-US" altLang="zh-CN" sz="1600" dirty="0"/>
              <a:t>red</a:t>
            </a:r>
            <a:r>
              <a:rPr lang="zh-CN" altLang="en-US" sz="1600" dirty="0"/>
              <a:t> </a:t>
            </a:r>
            <a:r>
              <a:rPr lang="en-US" altLang="zh-CN" sz="1600" dirty="0"/>
              <a:t>fill</a:t>
            </a:r>
            <a:r>
              <a:rPr lang="zh-CN" altLang="en-US" sz="1600" dirty="0"/>
              <a:t> </a:t>
            </a:r>
            <a:r>
              <a:rPr lang="en-US" altLang="zh-CN" sz="1600" dirty="0"/>
              <a:t>will</a:t>
            </a:r>
            <a:r>
              <a:rPr lang="zh-CN" altLang="en-US" sz="1600" dirty="0"/>
              <a:t> </a:t>
            </a:r>
            <a:r>
              <a:rPr lang="en-US" altLang="zh-CN" sz="1600" dirty="0"/>
              <a:t>run the tuned kernel, which has not been covered and the rate should be considered fluctuation; the performance gains for other shapes are minor or slightly negative, and should likewise be regarded as fluctuation.</a:t>
            </a:r>
          </a:p>
        </p:txBody>
      </p:sp>
      <p:pic>
        <p:nvPicPr>
          <p:cNvPr id="5" name="Picture 4">
            <a:extLst>
              <a:ext uri="{FF2B5EF4-FFF2-40B4-BE49-F238E27FC236}">
                <a16:creationId xmlns:a16="http://schemas.microsoft.com/office/drawing/2014/main" id="{8C0F5885-1D4E-2AE1-3EC7-134ECB53ECBC}"/>
              </a:ext>
            </a:extLst>
          </p:cNvPr>
          <p:cNvPicPr>
            <a:picLocks noChangeAspect="1"/>
          </p:cNvPicPr>
          <p:nvPr/>
        </p:nvPicPr>
        <p:blipFill>
          <a:blip r:embed="rId2"/>
          <a:stretch>
            <a:fillRect/>
          </a:stretch>
        </p:blipFill>
        <p:spPr>
          <a:xfrm>
            <a:off x="686462" y="1563624"/>
            <a:ext cx="8201506" cy="4727091"/>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Summary--</a:t>
            </a:r>
            <a:r>
              <a:rPr lang="en-US" altLang="zh-CN" dirty="0" err="1"/>
              <a:t>bwd</a:t>
            </a:r>
            <a:endParaRPr lang="en-US" dirty="0"/>
          </a:p>
        </p:txBody>
      </p:sp>
      <p:sp>
        <p:nvSpPr>
          <p:cNvPr id="3" name="Content Placeholder 2"/>
          <p:cNvSpPr>
            <a:spLocks noGrp="1"/>
          </p:cNvSpPr>
          <p:nvPr>
            <p:ph sz="quarter" idx="10"/>
          </p:nvPr>
        </p:nvSpPr>
        <p:spPr>
          <a:xfrm>
            <a:off x="586581" y="1112071"/>
            <a:ext cx="11018838" cy="707585"/>
          </a:xfrm>
        </p:spPr>
        <p:txBody>
          <a:bodyPr/>
          <a:lstStyle/>
          <a:p>
            <a:r>
              <a:rPr lang="en-US" altLang="zh-CN" dirty="0"/>
              <a:t>Some shapes show improvements, while some shapes degrade. Scratch memory usage is observed, and compared to the base version, the changes in scratch usage vary—some increase, some decrease.</a:t>
            </a:r>
          </a:p>
          <a:p>
            <a:endParaRPr lang="en-US" dirty="0"/>
          </a:p>
        </p:txBody>
      </p:sp>
      <p:pic>
        <p:nvPicPr>
          <p:cNvPr id="5" name="Picture 4">
            <a:extLst>
              <a:ext uri="{FF2B5EF4-FFF2-40B4-BE49-F238E27FC236}">
                <a16:creationId xmlns:a16="http://schemas.microsoft.com/office/drawing/2014/main" id="{082CB078-5770-F7C2-25A2-4F81ED65F7B0}"/>
              </a:ext>
            </a:extLst>
          </p:cNvPr>
          <p:cNvPicPr>
            <a:picLocks noChangeAspect="1"/>
          </p:cNvPicPr>
          <p:nvPr/>
        </p:nvPicPr>
        <p:blipFill>
          <a:blip r:embed="rId2"/>
          <a:stretch>
            <a:fillRect/>
          </a:stretch>
        </p:blipFill>
        <p:spPr>
          <a:xfrm>
            <a:off x="808521" y="1932270"/>
            <a:ext cx="7452429" cy="4746202"/>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307827"/>
            <a:ext cx="11018520" cy="430887"/>
          </a:xfrm>
        </p:spPr>
        <p:txBody>
          <a:bodyPr/>
          <a:lstStyle/>
          <a:p>
            <a:r>
              <a:rPr lang="en-US" altLang="zh-CN" dirty="0"/>
              <a:t>Summary—</a:t>
            </a:r>
            <a:r>
              <a:rPr lang="en-US" altLang="zh-CN" dirty="0" err="1"/>
              <a:t>bwd</a:t>
            </a:r>
            <a:r>
              <a:rPr lang="en-US" altLang="zh-CN" dirty="0"/>
              <a:t> finalize</a:t>
            </a:r>
            <a:endParaRPr lang="en-US" dirty="0"/>
          </a:p>
        </p:txBody>
      </p:sp>
      <p:sp>
        <p:nvSpPr>
          <p:cNvPr id="3" name="Content Placeholder 2"/>
          <p:cNvSpPr>
            <a:spLocks noGrp="1"/>
          </p:cNvSpPr>
          <p:nvPr>
            <p:ph sz="quarter" idx="10"/>
          </p:nvPr>
        </p:nvSpPr>
        <p:spPr>
          <a:xfrm>
            <a:off x="519874" y="839535"/>
            <a:ext cx="11018838" cy="1176155"/>
          </a:xfrm>
        </p:spPr>
        <p:txBody>
          <a:bodyPr/>
          <a:lstStyle/>
          <a:p>
            <a:r>
              <a:rPr lang="en-US" altLang="zh-CN" dirty="0"/>
              <a:t>After reviewing the general and tuned kernel code, the general kernel mainly uses a straightforward implementation, while the tuned kernel leverages share memory(dim3 block(32,32)). Therefore, a</a:t>
            </a:r>
            <a:r>
              <a:rPr lang="zh-CN" altLang="en-US" dirty="0"/>
              <a:t> </a:t>
            </a:r>
            <a:r>
              <a:rPr lang="en-US" altLang="zh-CN" dirty="0"/>
              <a:t>condition</a:t>
            </a:r>
            <a:r>
              <a:rPr lang="zh-CN" altLang="en-US" dirty="0"/>
              <a:t> </a:t>
            </a:r>
            <a:r>
              <a:rPr lang="en-US" altLang="zh-CN" dirty="0"/>
              <a:t>was</a:t>
            </a:r>
            <a:r>
              <a:rPr lang="zh-CN" altLang="en-US" dirty="0"/>
              <a:t> </a:t>
            </a:r>
            <a:r>
              <a:rPr lang="en-US" altLang="zh-CN" dirty="0"/>
              <a:t>added</a:t>
            </a:r>
            <a:r>
              <a:rPr lang="zh-CN" altLang="en-US" dirty="0"/>
              <a:t> </a:t>
            </a:r>
            <a:r>
              <a:rPr lang="en-US" altLang="zh-CN" dirty="0"/>
              <a:t>when</a:t>
            </a:r>
            <a:r>
              <a:rPr lang="zh-CN" altLang="en-US" dirty="0"/>
              <a:t> </a:t>
            </a:r>
            <a:r>
              <a:rPr lang="en-US" altLang="zh-CN" dirty="0"/>
              <a:t>launching</a:t>
            </a:r>
            <a:r>
              <a:rPr lang="zh-CN" altLang="en-US" dirty="0"/>
              <a:t> </a:t>
            </a:r>
            <a:r>
              <a:rPr lang="en-US" altLang="zh-CN" dirty="0"/>
              <a:t>the</a:t>
            </a:r>
            <a:r>
              <a:rPr lang="zh-CN" altLang="en-US" dirty="0"/>
              <a:t> </a:t>
            </a:r>
            <a:r>
              <a:rPr lang="en-US" altLang="zh-CN" dirty="0"/>
              <a:t>general</a:t>
            </a:r>
            <a:r>
              <a:rPr lang="zh-CN" altLang="en-US" dirty="0"/>
              <a:t> </a:t>
            </a:r>
            <a:r>
              <a:rPr lang="en-US" altLang="zh-CN" dirty="0"/>
              <a:t>backward finalize kernel to route to tuned kernel if cols%32==0.</a:t>
            </a:r>
          </a:p>
        </p:txBody>
      </p:sp>
      <p:pic>
        <p:nvPicPr>
          <p:cNvPr id="5" name="Picture 4">
            <a:extLst>
              <a:ext uri="{FF2B5EF4-FFF2-40B4-BE49-F238E27FC236}">
                <a16:creationId xmlns:a16="http://schemas.microsoft.com/office/drawing/2014/main" id="{548DB995-927E-CB5D-E936-C0C40A1E7B0A}"/>
              </a:ext>
            </a:extLst>
          </p:cNvPr>
          <p:cNvPicPr>
            <a:picLocks noChangeAspect="1"/>
          </p:cNvPicPr>
          <p:nvPr/>
        </p:nvPicPr>
        <p:blipFill>
          <a:blip r:embed="rId2"/>
          <a:stretch>
            <a:fillRect/>
          </a:stretch>
        </p:blipFill>
        <p:spPr>
          <a:xfrm>
            <a:off x="856648" y="2015690"/>
            <a:ext cx="7504429" cy="4690268"/>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8263" y="591790"/>
            <a:ext cx="11018520" cy="430530"/>
          </a:xfrm>
        </p:spPr>
        <p:txBody>
          <a:bodyPr/>
          <a:lstStyle/>
          <a:p>
            <a:r>
              <a:rPr altLang="zh-CN"/>
              <a:t>Forward Kernel</a:t>
            </a:r>
          </a:p>
        </p:txBody>
      </p:sp>
      <p:sp>
        <p:nvSpPr>
          <p:cNvPr id="3" name="内容占位符 2"/>
          <p:cNvSpPr>
            <a:spLocks noGrp="1"/>
          </p:cNvSpPr>
          <p:nvPr>
            <p:ph sz="quarter" idx="10"/>
          </p:nvPr>
        </p:nvSpPr>
        <p:spPr>
          <a:xfrm>
            <a:off x="586581" y="1251041"/>
            <a:ext cx="11018838" cy="4836927"/>
          </a:xfrm>
        </p:spPr>
        <p:txBody>
          <a:bodyPr/>
          <a:lstStyle/>
          <a:p>
            <a:r>
              <a:rPr lang="en-US" altLang="zh-CN" dirty="0"/>
              <a:t>Stage 1</a:t>
            </a:r>
          </a:p>
          <a:p>
            <a:pPr marL="0" indent="457200">
              <a:buNone/>
            </a:pPr>
            <a:r>
              <a:rPr lang="en-US" altLang="zh-CN" dirty="0">
                <a:sym typeface="+mn-ea"/>
              </a:rPr>
              <a:t>Due to the significant performance gap between the general and tuned kernel, and because they use different reduction methods(the tuned kernel use struct Stats is based on Welford algorithm, while the general kernel use struct Reducer is based on naïve implementation),the Stats was adapted for use in general </a:t>
            </a:r>
            <a:r>
              <a:rPr lang="en-US" altLang="zh-CN" dirty="0" err="1">
                <a:sym typeface="+mn-ea"/>
              </a:rPr>
              <a:t>version.Performance</a:t>
            </a:r>
            <a:r>
              <a:rPr lang="en-US" altLang="zh-CN" dirty="0">
                <a:sym typeface="+mn-ea"/>
              </a:rPr>
              <a:t> changed from 733 to 645.(76800,1600)</a:t>
            </a:r>
          </a:p>
          <a:p>
            <a:pPr marL="0" indent="457200">
              <a:buNone/>
            </a:pPr>
            <a:endParaRPr lang="zh-CN" altLang="en-US" dirty="0"/>
          </a:p>
          <a:p>
            <a:r>
              <a:rPr lang="en-US" altLang="zh-CN" dirty="0"/>
              <a:t>Stage 2</a:t>
            </a:r>
          </a:p>
          <a:p>
            <a:pPr marL="0" indent="457200">
              <a:buNone/>
            </a:pPr>
            <a:r>
              <a:rPr lang="en-US" altLang="zh-CN" dirty="0">
                <a:sym typeface="+mn-ea"/>
              </a:rPr>
              <a:t>Fixed the method for calculating “</a:t>
            </a:r>
            <a:r>
              <a:rPr lang="en-US" altLang="zh-CN" dirty="0" err="1">
                <a:sym typeface="+mn-ea"/>
              </a:rPr>
              <a:t>valid_count</a:t>
            </a:r>
            <a:r>
              <a:rPr lang="en-US" altLang="zh-CN" dirty="0">
                <a:sym typeface="+mn-ea"/>
              </a:rPr>
              <a:t>”: previously it counted non-zero elements, but now it uses </a:t>
            </a:r>
            <a:r>
              <a:rPr lang="en-US" altLang="zh-CN" dirty="0" err="1">
                <a:sym typeface="+mn-ea"/>
              </a:rPr>
              <a:t>params.cols</a:t>
            </a:r>
            <a:r>
              <a:rPr lang="en-US" altLang="zh-CN" dirty="0">
                <a:sym typeface="+mn-ea"/>
              </a:rPr>
              <a:t> &lt; </a:t>
            </a:r>
            <a:r>
              <a:rPr lang="en-US" altLang="zh-CN" dirty="0" err="1">
                <a:sym typeface="+mn-ea"/>
              </a:rPr>
              <a:t>hiddensize</a:t>
            </a:r>
            <a:r>
              <a:rPr lang="en-US" altLang="zh-CN" dirty="0">
                <a:sym typeface="+mn-ea"/>
              </a:rPr>
              <a:t> for determination. </a:t>
            </a:r>
            <a:r>
              <a:rPr lang="en-US" altLang="zh-CN" dirty="0" err="1">
                <a:sym typeface="+mn-ea"/>
              </a:rPr>
              <a:t>Also,the</a:t>
            </a:r>
            <a:r>
              <a:rPr lang="en-US" altLang="zh-CN" dirty="0">
                <a:sym typeface="+mn-ea"/>
              </a:rPr>
              <a:t> warp-level computation in Stats was changed from warp reducer to the Welford algorithm. Performance changed from 645 to 574.(76800,1600)</a:t>
            </a:r>
          </a:p>
          <a:p>
            <a:pPr marL="0" indent="457200">
              <a:buNone/>
            </a:pPr>
            <a:endParaRPr lang="en-US" altLang="zh-CN" dirty="0"/>
          </a:p>
          <a:p>
            <a:r>
              <a:rPr lang="en-US" altLang="zh-CN" dirty="0"/>
              <a:t>Stage 3</a:t>
            </a:r>
          </a:p>
          <a:p>
            <a:pPr marL="0" indent="457200">
              <a:buNone/>
            </a:pPr>
            <a:r>
              <a:rPr lang="en-US" altLang="zh-CN" dirty="0">
                <a:sym typeface="+mn-ea"/>
              </a:rPr>
              <a:t>Scratch usage of 784 was observed, indicating high register pressure, which is believed to be caused by the array </a:t>
            </a:r>
            <a:r>
              <a:rPr lang="en-US" altLang="zh-CN" dirty="0" err="1">
                <a:sym typeface="+mn-ea"/>
              </a:rPr>
              <a:t>xf</a:t>
            </a:r>
            <a:r>
              <a:rPr lang="en-US" altLang="zh-CN" dirty="0">
                <a:sym typeface="+mn-ea"/>
              </a:rPr>
              <a:t> existing throughout the entire kernel. The solution is to compute each thread’s m,m2 and n using the Welford algorithm directly within the kernel, then </a:t>
            </a:r>
            <a:r>
              <a:rPr lang="en-US" altLang="zh-CN" dirty="0" err="1">
                <a:sym typeface="+mn-ea"/>
              </a:rPr>
              <a:t>realse</a:t>
            </a:r>
            <a:r>
              <a:rPr lang="en-US" altLang="zh-CN" dirty="0">
                <a:sym typeface="+mn-ea"/>
              </a:rPr>
              <a:t> </a:t>
            </a:r>
            <a:r>
              <a:rPr lang="en-US" altLang="zh-CN" dirty="0" err="1">
                <a:sym typeface="+mn-ea"/>
              </a:rPr>
              <a:t>xf</a:t>
            </a:r>
            <a:r>
              <a:rPr lang="en-US" altLang="zh-CN" dirty="0">
                <a:sym typeface="+mn-ea"/>
              </a:rPr>
              <a:t> after computation. During normalization, </a:t>
            </a:r>
            <a:r>
              <a:rPr lang="en-US" altLang="zh-CN" dirty="0" err="1">
                <a:sym typeface="+mn-ea"/>
              </a:rPr>
              <a:t>xf</a:t>
            </a:r>
            <a:r>
              <a:rPr lang="en-US" altLang="zh-CN" dirty="0">
                <a:sym typeface="+mn-ea"/>
              </a:rPr>
              <a:t> is reloaded. Additionally, gamma and beta arrays are loaded only at normalization stage. Performance changed from 574 to 353.(76800,1600)</a:t>
            </a:r>
          </a:p>
          <a:p>
            <a:pPr marL="0" indent="457200">
              <a:buNone/>
            </a:pPr>
            <a:endParaRPr lang="en-US" altLang="zh-CN" dirty="0"/>
          </a:p>
          <a:p>
            <a:pPr marL="0" indent="457200">
              <a:buNone/>
            </a:pPr>
            <a:endParaRPr lang="zh-CN" altLang="en-US"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588240" y="591840"/>
            <a:ext cx="11018160" cy="430560"/>
          </a:xfrm>
          <a:prstGeom prst="rect">
            <a:avLst/>
          </a:prstGeom>
          <a:noFill/>
          <a:ln w="0">
            <a:noFill/>
          </a:ln>
        </p:spPr>
        <p:txBody>
          <a:bodyPr lIns="0" tIns="0" rIns="0" bIns="0" anchor="t">
            <a:noAutofit/>
          </a:bodyPr>
          <a:lstStyle/>
          <a:p>
            <a:pPr>
              <a:lnSpc>
                <a:spcPct val="100000"/>
              </a:lnSpc>
              <a:buNone/>
            </a:pPr>
            <a:r>
              <a:rPr lang="en-US" sz="2800" b="0" strike="noStrike" spc="-1" dirty="0">
                <a:solidFill>
                  <a:srgbClr val="FFFFFF"/>
                </a:solidFill>
                <a:latin typeface="Arial" panose="020B0604020202020204"/>
              </a:rPr>
              <a:t>bwd</a:t>
            </a:r>
          </a:p>
        </p:txBody>
      </p:sp>
      <p:sp>
        <p:nvSpPr>
          <p:cNvPr id="320" name="PlaceHolder 2"/>
          <p:cNvSpPr>
            <a:spLocks noGrp="1"/>
          </p:cNvSpPr>
          <p:nvPr/>
        </p:nvSpPr>
        <p:spPr>
          <a:xfrm>
            <a:off x="567056" y="1131570"/>
            <a:ext cx="10924360" cy="1097213"/>
          </a:xfrm>
          <a:prstGeom prst="rect">
            <a:avLst/>
          </a:prstGeom>
          <a:noFill/>
          <a:ln w="0">
            <a:noFill/>
          </a:ln>
        </p:spPr>
        <p:txBody>
          <a:bodyPr lIns="0" tIns="0" rIns="0" bIns="0" anchor="t">
            <a:noAutofit/>
          </a:bodyPr>
          <a:lstStyle>
            <a:lvl1pPr/>
            <a:lvl2pPr/>
            <a:lvl3pPr/>
            <a:lvl4pPr/>
            <a:lvl5pPr/>
            <a:lvl6pPr/>
            <a:lvl7pPr/>
            <a:lvl8pPr/>
            <a:lvl9pPr/>
          </a:lstStyle>
          <a:p>
            <a:pPr marL="285750" marR="0" lvl="0" indent="-285750" algn="l" defTabSz="914400" rtl="0" eaLnBrk="1" fontAlgn="auto" latinLnBrk="0" hangingPunct="1">
              <a:lnSpc>
                <a:spcPct val="100000"/>
              </a:lnSpc>
              <a:spcBef>
                <a:spcPts val="600"/>
              </a:spcBef>
              <a:spcAft>
                <a:spcPts val="0"/>
              </a:spcAft>
              <a:buClrTx/>
              <a:buSzTx/>
              <a:buFont typeface="Arial" panose="02080604020202020204" pitchFamily="34" charset="0"/>
              <a:buChar char="•"/>
              <a:tabLst>
                <a:tab pos="0" algn="l"/>
              </a:tabLst>
              <a:defRPr/>
            </a:pPr>
            <a:endParaRPr kumimoji="0" lang="en-US" altLang="zh-CN" sz="1800" b="0" i="0" u="none" strike="noStrike" kern="1200" cap="none" spc="-1" normalizeH="0" baseline="0" noProof="0" dirty="0">
              <a:ln>
                <a:noFill/>
              </a:ln>
              <a:solidFill>
                <a:srgbClr val="FFFFFF"/>
              </a:solidFill>
              <a:effectLst/>
              <a:uLnTx/>
              <a:uFillTx/>
              <a:latin typeface="Arial" panose="020B0604020202020204"/>
              <a:ea typeface="黑体" panose="02010609060101010101" pitchFamily="49" charset="-122"/>
              <a:cs typeface="+mn-cs"/>
            </a:endParaRPr>
          </a:p>
          <a:p>
            <a:pPr marL="0" marR="0" lvl="0" indent="0" algn="l" defTabSz="914400" rtl="0" eaLnBrk="1" fontAlgn="auto" latinLnBrk="0" hangingPunct="1">
              <a:lnSpc>
                <a:spcPct val="100000"/>
              </a:lnSpc>
              <a:spcBef>
                <a:spcPts val="600"/>
              </a:spcBef>
              <a:spcAft>
                <a:spcPts val="0"/>
              </a:spcAft>
              <a:buClr>
                <a:srgbClr val="FFFFFF"/>
              </a:buClr>
              <a:buSzPct val="90000"/>
              <a:buFont typeface="Arial" panose="020B0604020202020204"/>
              <a:buNone/>
              <a:tabLst>
                <a:tab pos="0" algn="l"/>
              </a:tabLst>
              <a:defRPr/>
            </a:pPr>
            <a:r>
              <a:rPr kumimoji="0" lang="en-US" altLang="zh-CN" sz="1800" b="0" i="0" u="none" strike="noStrike" kern="1200" cap="none" spc="-1" normalizeH="0" baseline="0" noProof="0" dirty="0">
                <a:ln>
                  <a:noFill/>
                </a:ln>
                <a:solidFill>
                  <a:srgbClr val="FFFFFF"/>
                </a:solidFill>
                <a:effectLst/>
                <a:uLnTx/>
                <a:uFillTx/>
                <a:latin typeface="Arial" panose="020B0604020202020204"/>
                <a:ea typeface="黑体" panose="02010609060101010101" pitchFamily="49" charset="-122"/>
                <a:cs typeface="+mn-cs"/>
              </a:rPr>
              <a:t>     </a:t>
            </a:r>
          </a:p>
          <a:p>
            <a:pPr marL="0" marR="0" lvl="0" indent="0" algn="l" defTabSz="914400" rtl="0" eaLnBrk="1" fontAlgn="auto" latinLnBrk="0" hangingPunct="1">
              <a:lnSpc>
                <a:spcPct val="100000"/>
              </a:lnSpc>
              <a:spcBef>
                <a:spcPts val="600"/>
              </a:spcBef>
              <a:spcAft>
                <a:spcPts val="0"/>
              </a:spcAft>
              <a:buClr>
                <a:srgbClr val="FFFFFF"/>
              </a:buClr>
              <a:buSzPct val="90000"/>
              <a:buFontTx/>
              <a:buNone/>
              <a:tabLst>
                <a:tab pos="0" algn="l"/>
              </a:tabLst>
              <a:defRPr/>
            </a:pPr>
            <a:r>
              <a:rPr kumimoji="0" lang="en-US" altLang="zh-CN" sz="1800" b="0" i="0" u="none" strike="noStrike" kern="1200" cap="none" spc="-1" normalizeH="0" baseline="0" noProof="0" dirty="0">
                <a:ln>
                  <a:noFill/>
                </a:ln>
                <a:solidFill>
                  <a:srgbClr val="FFFFFF"/>
                </a:solidFill>
                <a:effectLst/>
                <a:uLnTx/>
                <a:uFillTx/>
                <a:latin typeface="Arial" panose="020B0604020202020204"/>
                <a:ea typeface="黑体" panose="02010609060101010101" pitchFamily="49" charset="-122"/>
                <a:cs typeface="+mn-cs"/>
              </a:rPr>
              <a:t>     </a:t>
            </a:r>
          </a:p>
          <a:p>
            <a:pPr marL="228600" marR="0" lvl="0" indent="-228600" algn="l" defTabSz="914400" rtl="0" eaLnBrk="1" fontAlgn="auto" latinLnBrk="0" hangingPunct="1">
              <a:lnSpc>
                <a:spcPct val="100000"/>
              </a:lnSpc>
              <a:spcBef>
                <a:spcPts val="600"/>
              </a:spcBef>
              <a:spcAft>
                <a:spcPts val="0"/>
              </a:spcAft>
              <a:buClr>
                <a:srgbClr val="FFFFFF"/>
              </a:buClr>
              <a:buSzPct val="90000"/>
              <a:buFont typeface="Arial" panose="020B0604020202020204"/>
              <a:buChar char="•"/>
              <a:tabLst>
                <a:tab pos="0" algn="l"/>
              </a:tabLst>
              <a:defRPr/>
            </a:pPr>
            <a:endParaRPr kumimoji="0" lang="en-US" altLang="zh-CN" sz="1800" b="0" i="0" u="none" strike="noStrike" kern="1200" cap="none" spc="-1" normalizeH="0" baseline="0" noProof="0" dirty="0">
              <a:ln>
                <a:noFill/>
              </a:ln>
              <a:solidFill>
                <a:srgbClr val="FFFFFF"/>
              </a:solidFill>
              <a:effectLst/>
              <a:uLnTx/>
              <a:uFillTx/>
              <a:latin typeface="Arial" panose="020B0604020202020204"/>
              <a:ea typeface="黑体" panose="02010609060101010101" pitchFamily="49" charset="-122"/>
              <a:cs typeface="+mn-cs"/>
            </a:endParaRPr>
          </a:p>
          <a:p>
            <a:pPr marL="228600" marR="0" lvl="0" indent="-228600" algn="l" defTabSz="914400" rtl="0" eaLnBrk="1" fontAlgn="auto" latinLnBrk="0" hangingPunct="1">
              <a:lnSpc>
                <a:spcPct val="100000"/>
              </a:lnSpc>
              <a:spcBef>
                <a:spcPts val="600"/>
              </a:spcBef>
              <a:spcAft>
                <a:spcPts val="0"/>
              </a:spcAft>
              <a:buClr>
                <a:srgbClr val="FFFFFF"/>
              </a:buClr>
              <a:buSzPct val="90000"/>
              <a:buFont typeface="Arial" panose="020B0604020202020204"/>
              <a:buChar char="•"/>
              <a:tabLst>
                <a:tab pos="0" algn="l"/>
              </a:tabLst>
              <a:defRPr/>
            </a:pPr>
            <a:endParaRPr kumimoji="0" lang="en-US" altLang="zh-CN" sz="1800" b="0" i="0" u="none" strike="noStrike" kern="1200" cap="none" spc="-1" normalizeH="0" baseline="0" noProof="0" dirty="0">
              <a:ln>
                <a:noFill/>
              </a:ln>
              <a:solidFill>
                <a:srgbClr val="FFFFFF"/>
              </a:solidFill>
              <a:effectLst/>
              <a:uLnTx/>
              <a:uFillTx/>
              <a:latin typeface="Arial" panose="020B0604020202020204"/>
              <a:ea typeface="黑体" panose="02010609060101010101" pitchFamily="49" charset="-122"/>
              <a:cs typeface="+mn-cs"/>
            </a:endParaRPr>
          </a:p>
          <a:p>
            <a:pPr marL="228600" marR="0" lvl="0" indent="-228600" algn="l" defTabSz="914400" rtl="0" eaLnBrk="1" fontAlgn="auto" latinLnBrk="0" hangingPunct="1">
              <a:lnSpc>
                <a:spcPct val="100000"/>
              </a:lnSpc>
              <a:spcBef>
                <a:spcPts val="600"/>
              </a:spcBef>
              <a:spcAft>
                <a:spcPts val="0"/>
              </a:spcAft>
              <a:buClr>
                <a:srgbClr val="FFFFFF"/>
              </a:buClr>
              <a:buSzPct val="90000"/>
              <a:buFont typeface="Arial" panose="020B0604020202020204"/>
              <a:buChar char="•"/>
              <a:tabLst>
                <a:tab pos="0" algn="l"/>
              </a:tabLst>
              <a:defRPr/>
            </a:pPr>
            <a:endParaRPr kumimoji="0" lang="en-US" altLang="zh-CN" sz="1800" b="0" i="0" u="none" strike="noStrike" kern="1200" cap="none" spc="-1" normalizeH="0" baseline="0" noProof="0" dirty="0">
              <a:ln>
                <a:noFill/>
              </a:ln>
              <a:solidFill>
                <a:srgbClr val="FFFFFF"/>
              </a:solidFill>
              <a:effectLst/>
              <a:uLnTx/>
              <a:uFillTx/>
              <a:latin typeface="Arial" panose="020B0604020202020204"/>
              <a:ea typeface="黑体" panose="02010609060101010101" pitchFamily="49" charset="-122"/>
              <a:cs typeface="+mn-cs"/>
            </a:endParaRPr>
          </a:p>
          <a:p>
            <a:pPr marL="0" marR="0" lvl="0" indent="0" algn="l" defTabSz="914400" rtl="0" eaLnBrk="1" fontAlgn="auto" latinLnBrk="0" hangingPunct="1">
              <a:lnSpc>
                <a:spcPct val="100000"/>
              </a:lnSpc>
              <a:spcBef>
                <a:spcPts val="600"/>
              </a:spcBef>
              <a:spcAft>
                <a:spcPts val="0"/>
              </a:spcAft>
              <a:buClrTx/>
              <a:buSzTx/>
              <a:buFontTx/>
              <a:buNone/>
              <a:tabLst>
                <a:tab pos="0" algn="l"/>
              </a:tabLst>
              <a:defRPr/>
            </a:pPr>
            <a:endParaRPr kumimoji="0" lang="en-US" sz="1800" b="0" i="0" u="none" strike="noStrike" kern="1200" cap="none" spc="-1" normalizeH="0" baseline="0" noProof="0" dirty="0">
              <a:ln>
                <a:noFill/>
              </a:ln>
              <a:solidFill>
                <a:srgbClr val="FFFFFF"/>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tab pos="0" algn="l"/>
              </a:tabLst>
              <a:defRPr/>
            </a:pPr>
            <a:endParaRPr kumimoji="0" lang="en-US" sz="1800" b="0" i="0" u="none" strike="noStrike" kern="1200" cap="none" spc="-1" normalizeH="0" baseline="0" noProof="0" dirty="0">
              <a:ln>
                <a:noFill/>
              </a:ln>
              <a:solidFill>
                <a:srgbClr val="FFFFFF"/>
              </a:solidFill>
              <a:effectLst/>
              <a:uLnTx/>
              <a:uFillTx/>
              <a:latin typeface="Arial" panose="020B0604020202020204"/>
              <a:ea typeface="+mn-ea"/>
              <a:cs typeface="+mn-cs"/>
            </a:endParaRPr>
          </a:p>
        </p:txBody>
      </p:sp>
      <p:sp>
        <p:nvSpPr>
          <p:cNvPr id="3" name="TextBox 2"/>
          <p:cNvSpPr txBox="1"/>
          <p:nvPr/>
        </p:nvSpPr>
        <p:spPr>
          <a:xfrm>
            <a:off x="588240" y="1131570"/>
            <a:ext cx="11083060" cy="1754326"/>
          </a:xfrm>
          <a:prstGeom prst="rect">
            <a:avLst/>
          </a:prstGeom>
          <a:noFill/>
        </p:spPr>
        <p:txBody>
          <a:bodyPr wrap="square">
            <a:spAutoFit/>
          </a:body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sym typeface="+mn-ea"/>
              </a:rPr>
              <a:t>Initially, we followed the forward kernel approach to reduce </a:t>
            </a:r>
            <a:r>
              <a:rPr kumimoji="0" lang="en-US" altLang="zh-CN" sz="1800" b="0" i="0" u="none" strike="noStrike" kern="1200" cap="none" spc="0" normalizeH="0" baseline="0" noProof="0" dirty="0" err="1">
                <a:ln>
                  <a:noFill/>
                </a:ln>
                <a:solidFill>
                  <a:srgbClr val="FFFFFF"/>
                </a:solidFill>
                <a:effectLst/>
                <a:uLnTx/>
                <a:uFillTx/>
                <a:latin typeface="Arial"/>
                <a:ea typeface="黑体" panose="02010609060101010101" pitchFamily="49" charset="-122"/>
                <a:cs typeface="+mn-cs"/>
                <a:sym typeface="+mn-ea"/>
              </a:rPr>
              <a:t>dy</a:t>
            </a:r>
            <a:r>
              <a:rPr kumimoji="0" lang="en-US" altLang="zh-CN" sz="18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sym typeface="+mn-ea"/>
              </a:rPr>
              <a:t> lifetime and lazily load array gamma, but saw almost no performance improvement. Comparing the general and tuned kernel implementations, they are largely similar—the tuned kernel uses a static Reducer, while the general uses a dynamic one—leaving limited room for change. By chance, we discovered that performing a dummy write before writing dx to global memory eliminates scratch usage and significantly improves performance: from 526 to 347 us. It was also observed that this dummy write can eliminate scratch, but it’s not generally applicable.</a:t>
            </a:r>
          </a:p>
        </p:txBody>
      </p:sp>
      <p:sp>
        <p:nvSpPr>
          <p:cNvPr id="16" name="AutoShape 2"/>
          <p:cNvSpPr>
            <a:spLocks noChangeAspect="1" noChangeArrowheads="1"/>
          </p:cNvSpPr>
          <p:nvPr/>
        </p:nvSpPr>
        <p:spPr bwMode="auto">
          <a:xfrm>
            <a:off x="753709" y="500043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21" name="Picture 20"/>
          <p:cNvPicPr>
            <a:picLocks noChangeAspect="1"/>
          </p:cNvPicPr>
          <p:nvPr/>
        </p:nvPicPr>
        <p:blipFill>
          <a:blip r:embed="rId3"/>
          <a:stretch>
            <a:fillRect/>
          </a:stretch>
        </p:blipFill>
        <p:spPr>
          <a:xfrm>
            <a:off x="1182408" y="3162895"/>
            <a:ext cx="7207109" cy="3357666"/>
          </a:xfrm>
          <a:prstGeom prst="rect">
            <a:avLst/>
          </a:prstGeom>
        </p:spPr>
      </p:pic>
      <p:sp>
        <p:nvSpPr>
          <p:cNvPr id="22" name="矩形 1"/>
          <p:cNvSpPr/>
          <p:nvPr/>
        </p:nvSpPr>
        <p:spPr>
          <a:xfrm>
            <a:off x="1277395" y="4153109"/>
            <a:ext cx="7017134" cy="1694645"/>
          </a:xfrm>
          <a:prstGeom prst="rect">
            <a:avLst/>
          </a:prstGeom>
          <a:noFill/>
          <a:ln w="38100">
            <a:solidFill>
              <a:srgbClr val="00B050"/>
            </a:solidFill>
            <a:round/>
          </a:ln>
        </p:spPr>
        <p:style>
          <a:lnRef idx="0">
            <a:srgbClr val="FFFFFF"/>
          </a:lnRef>
          <a:fillRef idx="0">
            <a:srgbClr val="FFFFFF"/>
          </a:fillRef>
          <a:effectRef idx="0">
            <a:srgbClr val="FFFFFF"/>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E4B67-8F19-BAB9-6C12-8D69EC14E423}"/>
              </a:ext>
            </a:extLst>
          </p:cNvPr>
          <p:cNvSpPr>
            <a:spLocks noGrp="1"/>
          </p:cNvSpPr>
          <p:nvPr>
            <p:ph type="title"/>
          </p:nvPr>
        </p:nvSpPr>
        <p:spPr/>
        <p:txBody>
          <a:bodyPr/>
          <a:lstStyle/>
          <a:p>
            <a:r>
              <a:rPr lang="en-US" dirty="0" err="1"/>
              <a:t>bwd</a:t>
            </a:r>
            <a:endParaRPr lang="en-US" dirty="0"/>
          </a:p>
        </p:txBody>
      </p:sp>
      <p:sp>
        <p:nvSpPr>
          <p:cNvPr id="3" name="Text Placeholder 2">
            <a:extLst>
              <a:ext uri="{FF2B5EF4-FFF2-40B4-BE49-F238E27FC236}">
                <a16:creationId xmlns:a16="http://schemas.microsoft.com/office/drawing/2014/main" id="{223418DD-144D-516A-7DCF-08F4AB943849}"/>
              </a:ext>
            </a:extLst>
          </p:cNvPr>
          <p:cNvSpPr>
            <a:spLocks noGrp="1"/>
          </p:cNvSpPr>
          <p:nvPr>
            <p:ph type="body" sz="quarter" idx="10"/>
          </p:nvPr>
        </p:nvSpPr>
        <p:spPr/>
        <p:txBody>
          <a:bodyPr/>
          <a:lstStyle/>
          <a:p>
            <a:r>
              <a:rPr lang="en-US" altLang="zh-CN" dirty="0">
                <a:sym typeface="+mn-ea"/>
              </a:rPr>
              <a:t>	</a:t>
            </a:r>
            <a:r>
              <a:rPr lang="en-US" altLang="zh-CN" dirty="0">
                <a:effectLst/>
                <a:sym typeface="+mn-ea"/>
              </a:rPr>
              <a:t>A</a:t>
            </a:r>
            <a:r>
              <a:rPr lang="en-US" altLang="zh-CN" dirty="0">
                <a:sym typeface="+mn-ea"/>
              </a:rPr>
              <a:t>t this stage, since both the tuned and general kernels use the Reducer structure for reduction, we have not yet adopted the Stats structure(as in the forward kernel) to reduce. Additionally, partial unrolling of the loop containing the dirty write led to a nearly 50% performance regression compared to the baseline, and </a:t>
            </a:r>
            <a:r>
              <a:rPr lang="en-US" altLang="zh-CN" dirty="0" err="1">
                <a:sym typeface="+mn-ea"/>
              </a:rPr>
              <a:t>scratch_per_workitem</a:t>
            </a:r>
            <a:r>
              <a:rPr lang="en-US" altLang="zh-CN" dirty="0">
                <a:sym typeface="+mn-ea"/>
              </a:rPr>
              <a:t> from 112 to 192.</a:t>
            </a:r>
            <a:endParaRPr lang="zh-CN" altLang="en-US" dirty="0">
              <a:effectLst/>
              <a:sym typeface="+mn-ea"/>
            </a:endParaRPr>
          </a:p>
          <a:p>
            <a:endParaRPr lang="en-US" dirty="0"/>
          </a:p>
        </p:txBody>
      </p:sp>
      <p:pic>
        <p:nvPicPr>
          <p:cNvPr id="7" name="Picture 6">
            <a:extLst>
              <a:ext uri="{FF2B5EF4-FFF2-40B4-BE49-F238E27FC236}">
                <a16:creationId xmlns:a16="http://schemas.microsoft.com/office/drawing/2014/main" id="{3CB746BB-9358-A24D-9F27-6D19917285BB}"/>
              </a:ext>
            </a:extLst>
          </p:cNvPr>
          <p:cNvPicPr>
            <a:picLocks noChangeAspect="1"/>
          </p:cNvPicPr>
          <p:nvPr/>
        </p:nvPicPr>
        <p:blipFill>
          <a:blip r:embed="rId2"/>
          <a:stretch>
            <a:fillRect/>
          </a:stretch>
        </p:blipFill>
        <p:spPr>
          <a:xfrm>
            <a:off x="675001" y="2748201"/>
            <a:ext cx="9674353" cy="2675429"/>
          </a:xfrm>
          <a:prstGeom prst="rect">
            <a:avLst/>
          </a:prstGeom>
        </p:spPr>
      </p:pic>
    </p:spTree>
    <p:extLst>
      <p:ext uri="{BB962C8B-B14F-4D97-AF65-F5344CB8AC3E}">
        <p14:creationId xmlns:p14="http://schemas.microsoft.com/office/powerpoint/2010/main" val="369637384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8263" y="591790"/>
            <a:ext cx="11018520" cy="430530"/>
          </a:xfrm>
        </p:spPr>
        <p:txBody>
          <a:bodyPr/>
          <a:lstStyle/>
          <a:p>
            <a:r>
              <a:rPr lang="en-US" altLang="zh-CN" dirty="0"/>
              <a:t>Some</a:t>
            </a:r>
            <a:r>
              <a:rPr lang="zh-CN" altLang="en-US" dirty="0"/>
              <a:t> </a:t>
            </a:r>
            <a:r>
              <a:rPr lang="en-US" altLang="zh-CN" dirty="0"/>
              <a:t>questions</a:t>
            </a:r>
            <a:r>
              <a:rPr altLang="zh-CN" dirty="0"/>
              <a:t>&amp;&amp;</a:t>
            </a:r>
            <a:r>
              <a:rPr lang="en-US" altLang="zh-CN" dirty="0"/>
              <a:t>next</a:t>
            </a:r>
            <a:r>
              <a:rPr lang="zh-CN" altLang="en-US" dirty="0"/>
              <a:t> </a:t>
            </a:r>
            <a:r>
              <a:rPr lang="en-US" altLang="zh-CN" dirty="0"/>
              <a:t>to</a:t>
            </a:r>
            <a:r>
              <a:rPr lang="zh-CN" altLang="en-US" dirty="0"/>
              <a:t> </a:t>
            </a:r>
            <a:r>
              <a:rPr lang="en-US" altLang="zh-CN" dirty="0"/>
              <a:t>do</a:t>
            </a:r>
            <a:endParaRPr lang="zh-CN" altLang="en-US" dirty="0"/>
          </a:p>
        </p:txBody>
      </p:sp>
      <p:sp>
        <p:nvSpPr>
          <p:cNvPr id="3" name="内容占位符 2"/>
          <p:cNvSpPr>
            <a:spLocks noGrp="1"/>
          </p:cNvSpPr>
          <p:nvPr>
            <p:ph sz="quarter" idx="10"/>
          </p:nvPr>
        </p:nvSpPr>
        <p:spPr/>
        <p:txBody>
          <a:bodyPr/>
          <a:lstStyle/>
          <a:p>
            <a:r>
              <a:rPr lang="en-US" altLang="zh-CN" dirty="0"/>
              <a:t>When does </a:t>
            </a:r>
            <a:r>
              <a:rPr lang="en-US" altLang="zh-CN" dirty="0" err="1"/>
              <a:t>Scratch_Per_Workitem</a:t>
            </a:r>
            <a:r>
              <a:rPr lang="en-US" altLang="zh-CN" dirty="0"/>
              <a:t> occur, and how is </a:t>
            </a:r>
            <a:r>
              <a:rPr lang="en-US" altLang="zh-CN" dirty="0" err="1"/>
              <a:t>LDS_Per_workgroup</a:t>
            </a:r>
            <a:r>
              <a:rPr lang="en-US" altLang="zh-CN" dirty="0"/>
              <a:t> calculated?</a:t>
            </a:r>
            <a:endParaRPr lang="zh-CN" altLang="en-US" dirty="0"/>
          </a:p>
          <a:p>
            <a:endParaRPr lang="en-US" altLang="zh-CN" dirty="0"/>
          </a:p>
          <a:p>
            <a:r>
              <a:rPr lang="en-US" altLang="zh-CN" dirty="0"/>
              <a:t>The case where </a:t>
            </a:r>
            <a:r>
              <a:rPr lang="en-US" altLang="zh-CN" dirty="0" err="1"/>
              <a:t>ctas_per_row</a:t>
            </a:r>
            <a:r>
              <a:rPr lang="en-US" altLang="zh-CN" dirty="0"/>
              <a:t> &gt; 1 has not been optimized;</a:t>
            </a:r>
            <a:endParaRPr lang="zh-CN" altLang="en-US" dirty="0"/>
          </a:p>
          <a:p>
            <a:endParaRPr lang="zh-CN" altLang="en-US" dirty="0"/>
          </a:p>
          <a:p>
            <a:r>
              <a:rPr lang="en-US" altLang="zh-CN" dirty="0"/>
              <a:t>Backward general kernel scratch: replaced to the reduction structure form Reducer to Stats(similar to the changes made in forward general kernel);</a:t>
            </a:r>
            <a:endParaRPr lang="zh-CN" altLang="en-US" dirty="0"/>
          </a:p>
          <a:p>
            <a:endParaRPr lang="zh-CN" altLang="en-US" dirty="0"/>
          </a:p>
          <a:p>
            <a:r>
              <a:rPr lang="en-US" altLang="zh-CN" dirty="0"/>
              <a:t>Can </a:t>
            </a:r>
            <a:r>
              <a:rPr lang="en-US" altLang="zh-CN" dirty="0" err="1"/>
              <a:t>bwd</a:t>
            </a:r>
            <a:r>
              <a:rPr lang="en-US" altLang="zh-CN" dirty="0"/>
              <a:t> general finalize kernel be optimized when cols % 32 != 0?</a:t>
            </a:r>
          </a:p>
          <a:p>
            <a:pPr marL="0" indent="0">
              <a:buNone/>
            </a:pPr>
            <a:endParaRPr lang="en-US" altLang="zh-CN" dirty="0"/>
          </a:p>
          <a:p>
            <a:r>
              <a:rPr lang="en-US" altLang="zh-CN" dirty="0"/>
              <a:t>For (2048,12228),why </a:t>
            </a:r>
            <a:r>
              <a:rPr lang="en-US" altLang="zh-CN" dirty="0" err="1"/>
              <a:t>scratch_per_workitem</a:t>
            </a:r>
            <a:r>
              <a:rPr lang="en-US" altLang="zh-CN" dirty="0"/>
              <a:t> worsens but performance still improves; also (29,17389),why the </a:t>
            </a:r>
            <a:r>
              <a:rPr lang="en-US" altLang="zh-CN" dirty="0" err="1"/>
              <a:t>scratch_per_workitem</a:t>
            </a:r>
            <a:r>
              <a:rPr lang="en-US" altLang="zh-CN" dirty="0"/>
              <a:t> increase significantly and performance degrades by factor of 2.</a:t>
            </a:r>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zh-CN" altLang="en-US" dirty="0"/>
          </a:p>
          <a:p>
            <a:endParaRPr lang="zh-CN" altLang="en-US"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E0A5-FE8D-8785-0849-056782207CB1}"/>
              </a:ext>
            </a:extLst>
          </p:cNvPr>
          <p:cNvSpPr>
            <a:spLocks noGrp="1"/>
          </p:cNvSpPr>
          <p:nvPr>
            <p:ph type="title"/>
          </p:nvPr>
        </p:nvSpPr>
        <p:spPr/>
        <p:txBody>
          <a:bodyPr/>
          <a:lstStyle/>
          <a:p>
            <a:r>
              <a:rPr lang="en-US" dirty="0"/>
              <a:t>Use the Welford algorithm in the </a:t>
            </a:r>
            <a:r>
              <a:rPr lang="en-US" dirty="0" err="1"/>
              <a:t>Bwd</a:t>
            </a:r>
            <a:r>
              <a:rPr lang="en-US" dirty="0"/>
              <a:t> kernel</a:t>
            </a:r>
          </a:p>
        </p:txBody>
      </p:sp>
      <p:sp>
        <p:nvSpPr>
          <p:cNvPr id="3" name="Content Placeholder 2">
            <a:extLst>
              <a:ext uri="{FF2B5EF4-FFF2-40B4-BE49-F238E27FC236}">
                <a16:creationId xmlns:a16="http://schemas.microsoft.com/office/drawing/2014/main" id="{4250D23C-95B9-55BD-8ADF-A39A13543B77}"/>
              </a:ext>
            </a:extLst>
          </p:cNvPr>
          <p:cNvSpPr>
            <a:spLocks noGrp="1"/>
          </p:cNvSpPr>
          <p:nvPr>
            <p:ph sz="quarter" idx="10"/>
          </p:nvPr>
        </p:nvSpPr>
        <p:spPr/>
        <p:txBody>
          <a:bodyPr/>
          <a:lstStyle/>
          <a:p>
            <a:r>
              <a:rPr lang="en-US" dirty="0"/>
              <a:t>Although the migration was successful, the kernel time increased to around 750 µs, which is over 30% slower than the 570 µs baseline. </a:t>
            </a:r>
          </a:p>
          <a:p>
            <a:endParaRPr lang="en-US" dirty="0"/>
          </a:p>
          <a:p>
            <a:r>
              <a:rPr lang="en-US" dirty="0"/>
              <a:t>Through analysis, we believe that the Welford algorithm is not suitable for reduction in the backward kernel. In the forward kernel, both the mean and variance are required for normalization. The standard approach calculates the mean first and then the variance, requiring two passes. Welford can compute both in a single pass, but it needs to maintain three variables (`m`, `m2`, and `n`).</a:t>
            </a:r>
          </a:p>
          <a:p>
            <a:endParaRPr lang="en-US" dirty="0"/>
          </a:p>
          <a:p>
            <a:r>
              <a:rPr lang="en-US" dirty="0"/>
              <a:t> However, in the backward stage, only the mean is needed to compute `dx`, which can be efficiently obtained with a single pass without using Welford.</a:t>
            </a:r>
          </a:p>
        </p:txBody>
      </p:sp>
    </p:spTree>
    <p:extLst>
      <p:ext uri="{BB962C8B-B14F-4D97-AF65-F5344CB8AC3E}">
        <p14:creationId xmlns:p14="http://schemas.microsoft.com/office/powerpoint/2010/main" val="27669123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437C7-851A-5A83-CCE9-99075431D061}"/>
              </a:ext>
            </a:extLst>
          </p:cNvPr>
          <p:cNvSpPr>
            <a:spLocks noGrp="1"/>
          </p:cNvSpPr>
          <p:nvPr>
            <p:ph type="title"/>
          </p:nvPr>
        </p:nvSpPr>
        <p:spPr/>
        <p:txBody>
          <a:bodyPr/>
          <a:lstStyle/>
          <a:p>
            <a:r>
              <a:rPr lang="en-US" altLang="zh-CN" dirty="0"/>
              <a:t>Reduce the base tile size</a:t>
            </a:r>
            <a:endParaRPr lang="en-US" dirty="0"/>
          </a:p>
        </p:txBody>
      </p:sp>
      <p:sp>
        <p:nvSpPr>
          <p:cNvPr id="3" name="Content Placeholder 2">
            <a:extLst>
              <a:ext uri="{FF2B5EF4-FFF2-40B4-BE49-F238E27FC236}">
                <a16:creationId xmlns:a16="http://schemas.microsoft.com/office/drawing/2014/main" id="{0C07796F-601A-0A99-7E58-D859BBDA36F2}"/>
              </a:ext>
            </a:extLst>
          </p:cNvPr>
          <p:cNvSpPr>
            <a:spLocks noGrp="1"/>
          </p:cNvSpPr>
          <p:nvPr>
            <p:ph sz="quarter" idx="10"/>
          </p:nvPr>
        </p:nvSpPr>
        <p:spPr/>
        <p:txBody>
          <a:bodyPr/>
          <a:lstStyle/>
          <a:p>
            <a:r>
              <a:rPr lang="en-US" dirty="0"/>
              <a:t>For this shape (76800, 1600), the </a:t>
            </a:r>
            <a:r>
              <a:rPr lang="en-US" dirty="0" err="1"/>
              <a:t>gridDim</a:t>
            </a:r>
            <a:r>
              <a:rPr lang="en-US" dirty="0"/>
              <a:t> is (1, 1824). Reducing the number of blocks along the row dimension by a factor of 2 or 4 leads to performance degradation. With </a:t>
            </a:r>
            <a:r>
              <a:rPr lang="en-US" dirty="0" err="1"/>
              <a:t>bytes_per_load</a:t>
            </a:r>
            <a:r>
              <a:rPr lang="en-US" dirty="0"/>
              <a:t> == 16 and the input type being bf16 (i.e., each thread processes 8 elements at a time), reducing it to 4 or 2 also results in performance degradation, along with increased scratch usage.</a:t>
            </a:r>
          </a:p>
        </p:txBody>
      </p:sp>
      <p:pic>
        <p:nvPicPr>
          <p:cNvPr id="5" name="Picture 4">
            <a:extLst>
              <a:ext uri="{FF2B5EF4-FFF2-40B4-BE49-F238E27FC236}">
                <a16:creationId xmlns:a16="http://schemas.microsoft.com/office/drawing/2014/main" id="{544B3104-F07D-CA30-9C41-68FD6410B8DB}"/>
              </a:ext>
            </a:extLst>
          </p:cNvPr>
          <p:cNvPicPr>
            <a:picLocks noChangeAspect="1"/>
          </p:cNvPicPr>
          <p:nvPr/>
        </p:nvPicPr>
        <p:blipFill>
          <a:blip r:embed="rId2"/>
          <a:stretch>
            <a:fillRect/>
          </a:stretch>
        </p:blipFill>
        <p:spPr>
          <a:xfrm>
            <a:off x="834572" y="2950029"/>
            <a:ext cx="8337077" cy="2475860"/>
          </a:xfrm>
          <a:prstGeom prst="rect">
            <a:avLst/>
          </a:prstGeom>
        </p:spPr>
      </p:pic>
    </p:spTree>
    <p:extLst>
      <p:ext uri="{BB962C8B-B14F-4D97-AF65-F5344CB8AC3E}">
        <p14:creationId xmlns:p14="http://schemas.microsoft.com/office/powerpoint/2010/main" val="23665886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08E5-7303-9723-46EC-AB8F103D16B2}"/>
              </a:ext>
            </a:extLst>
          </p:cNvPr>
          <p:cNvSpPr>
            <a:spLocks noGrp="1"/>
          </p:cNvSpPr>
          <p:nvPr>
            <p:ph type="title"/>
          </p:nvPr>
        </p:nvSpPr>
        <p:spPr/>
        <p:txBody>
          <a:bodyPr/>
          <a:lstStyle/>
          <a:p>
            <a:r>
              <a:rPr lang="en-US" dirty="0"/>
              <a:t>Perhaps the cause of the spill has been found</a:t>
            </a:r>
          </a:p>
        </p:txBody>
      </p:sp>
      <p:sp>
        <p:nvSpPr>
          <p:cNvPr id="3" name="Content Placeholder 2">
            <a:extLst>
              <a:ext uri="{FF2B5EF4-FFF2-40B4-BE49-F238E27FC236}">
                <a16:creationId xmlns:a16="http://schemas.microsoft.com/office/drawing/2014/main" id="{58444E8A-921F-B19F-B1ED-57A5E541C837}"/>
              </a:ext>
            </a:extLst>
          </p:cNvPr>
          <p:cNvSpPr>
            <a:spLocks noGrp="1"/>
          </p:cNvSpPr>
          <p:nvPr>
            <p:ph sz="quarter" idx="10"/>
          </p:nvPr>
        </p:nvSpPr>
        <p:spPr/>
        <p:txBody>
          <a:bodyPr/>
          <a:lstStyle/>
          <a:p>
            <a:r>
              <a:rPr lang="en-US" dirty="0"/>
              <a:t>By comparing the .</a:t>
            </a:r>
            <a:r>
              <a:rPr lang="en-US" dirty="0" err="1"/>
              <a:t>ll</a:t>
            </a:r>
            <a:r>
              <a:rPr lang="en-US" dirty="0"/>
              <a:t> file, .s file, and source code, we believe that the spill is caused by the intermediate arrays y and dy. By writing y and </a:t>
            </a:r>
            <a:r>
              <a:rPr lang="en-US" dirty="0" err="1"/>
              <a:t>dy</a:t>
            </a:r>
            <a:r>
              <a:rPr lang="en-US" dirty="0"/>
              <a:t> into LDS and reading them back from LDS when needed, </a:t>
            </a:r>
            <a:r>
              <a:rPr lang="en-US" dirty="0" err="1"/>
              <a:t>scratch_per_workitem</a:t>
            </a:r>
            <a:r>
              <a:rPr lang="en-US" dirty="0"/>
              <a:t> was reduced to 0, but performance degraded. Despite the optimizations applied to the y and </a:t>
            </a:r>
            <a:r>
              <a:rPr lang="en-US" dirty="0" err="1"/>
              <a:t>dy</a:t>
            </a:r>
            <a:r>
              <a:rPr lang="en-US" dirty="0"/>
              <a:t> arrays, there was no performance improvement. The comparison is shown below:</a:t>
            </a:r>
          </a:p>
        </p:txBody>
      </p:sp>
      <p:pic>
        <p:nvPicPr>
          <p:cNvPr id="7" name="Picture 6">
            <a:extLst>
              <a:ext uri="{FF2B5EF4-FFF2-40B4-BE49-F238E27FC236}">
                <a16:creationId xmlns:a16="http://schemas.microsoft.com/office/drawing/2014/main" id="{B2BC269B-D3F5-1CDC-0F05-DE522D0A6E69}"/>
              </a:ext>
            </a:extLst>
          </p:cNvPr>
          <p:cNvPicPr>
            <a:picLocks noChangeAspect="1"/>
          </p:cNvPicPr>
          <p:nvPr/>
        </p:nvPicPr>
        <p:blipFill>
          <a:blip r:embed="rId2"/>
          <a:stretch>
            <a:fillRect/>
          </a:stretch>
        </p:blipFill>
        <p:spPr>
          <a:xfrm>
            <a:off x="1092707" y="3004457"/>
            <a:ext cx="9083383" cy="2421432"/>
          </a:xfrm>
          <a:prstGeom prst="rect">
            <a:avLst/>
          </a:prstGeom>
        </p:spPr>
      </p:pic>
    </p:spTree>
    <p:extLst>
      <p:ext uri="{BB962C8B-B14F-4D97-AF65-F5344CB8AC3E}">
        <p14:creationId xmlns:p14="http://schemas.microsoft.com/office/powerpoint/2010/main" val="2029844966"/>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AMD Corporate Template_Dark">
  <a:themeElements>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ED1C24"/>
      </a:accent5>
      <a:accent6>
        <a:srgbClr val="24C7D3"/>
      </a:accent6>
      <a:hlink>
        <a:srgbClr val="D5D5D5"/>
      </a:hlink>
      <a:folHlink>
        <a:srgbClr val="A9A9A9"/>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18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bd4f1f7-d4b1-4cbd-af48-dd17bd0768d5}" enabled="1" method="Privileged" siteId="{3dd8961f-e488-4e60-8e11-a82d994e183d}" contentBits="1" removed="0"/>
</clbl:labelList>
</file>

<file path=docProps/app.xml><?xml version="1.0" encoding="utf-8"?>
<Properties xmlns="http://schemas.openxmlformats.org/officeDocument/2006/extended-properties" xmlns:vt="http://schemas.openxmlformats.org/officeDocument/2006/docPropsVTypes">
  <TotalTime>1287</TotalTime>
  <Words>1631</Words>
  <Application>Microsoft Office PowerPoint</Application>
  <PresentationFormat>Widescreen</PresentationFormat>
  <Paragraphs>274</Paragraphs>
  <Slides>20</Slides>
  <Notes>1</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2" baseType="lpstr">
      <vt:lpstr>微软雅黑</vt:lpstr>
      <vt:lpstr>PingFang SC</vt:lpstr>
      <vt:lpstr>Aptos</vt:lpstr>
      <vt:lpstr>Aptos Display</vt:lpstr>
      <vt:lpstr>Arial</vt:lpstr>
      <vt:lpstr>Calibri</vt:lpstr>
      <vt:lpstr>Consolas</vt:lpstr>
      <vt:lpstr>Segoe UI</vt:lpstr>
      <vt:lpstr>Wingdings</vt:lpstr>
      <vt:lpstr>Office Theme</vt:lpstr>
      <vt:lpstr>AMD Corporate Template_Dark</vt:lpstr>
      <vt:lpstr>Worksheet</vt:lpstr>
      <vt:lpstr>Heyi LayerNorm Optimization</vt:lpstr>
      <vt:lpstr>PR Version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Slides Used During The Discussion</vt:lpstr>
      <vt:lpstr>Summary--fwd</vt:lpstr>
      <vt:lpstr>Summary--bwd</vt:lpstr>
      <vt:lpstr>Summary—bwd finalize</vt:lpstr>
      <vt:lpstr>Forward Kernel</vt:lpstr>
      <vt:lpstr>bwd</vt:lpstr>
      <vt:lpstr>bwd</vt:lpstr>
      <vt:lpstr>Some questions&amp;&amp;next to do</vt:lpstr>
      <vt:lpstr>Use the Welford algorithm in the Bwd kernel</vt:lpstr>
      <vt:lpstr>Reduce the base tile size</vt:lpstr>
      <vt:lpstr>Perhaps the cause of the spill has been found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Yang, Charles</dc:creator>
  <cp:lastModifiedBy>Yang, Charles</cp:lastModifiedBy>
  <cp:revision>31</cp:revision>
  <dcterms:created xsi:type="dcterms:W3CDTF">2025-11-18T11:14:59Z</dcterms:created>
  <dcterms:modified xsi:type="dcterms:W3CDTF">2025-11-19T10:58:08Z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[Copyright &lt;Year&gt;]</vt:lpwstr>
  </property>
</Properties>
</file>